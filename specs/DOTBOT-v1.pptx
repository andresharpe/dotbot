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317" r:id="rId2"/>
    <p:sldId id="318" r:id="rId3"/>
    <p:sldId id="319" r:id="rId4"/>
    <p:sldId id="320" r:id="rId5"/>
    <p:sldId id="323" r:id="rId6"/>
    <p:sldId id="324" r:id="rId7"/>
    <p:sldId id="325" r:id="rId8"/>
    <p:sldId id="326" r:id="rId9"/>
    <p:sldId id="327" r:id="rId10"/>
    <p:sldId id="321" r:id="rId11"/>
    <p:sldId id="3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7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38" y="7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193A7-03C1-46E4-8B09-4DBAA30B551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7F3D5-F5CD-4B37-AF27-0BBA73C2BF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223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we're launching AI development teams.</a:t>
            </a:r>
          </a:p>
          <a:p>
            <a:endParaRPr lang="en-US" dirty="0"/>
          </a:p>
          <a:p>
            <a:r>
              <a:rPr lang="en-US" dirty="0"/>
              <a:t>Before we talk about speed or productivity, I want to talk about something more important: visibility and trust.</a:t>
            </a:r>
          </a:p>
          <a:p>
            <a:endParaRPr lang="en-US" dirty="0"/>
          </a:p>
          <a:p>
            <a:r>
              <a:rPr lang="en-US" dirty="0"/>
              <a:t>DOTBOT is the system we built to make sure that when humans and AI build software together, nothing happens in the dark.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accelerates software delivery — everyone knows that.</a:t>
            </a:r>
          </a:p>
          <a:p>
            <a:endParaRPr lang="en-US" dirty="0"/>
          </a:p>
          <a:p>
            <a:r>
              <a:rPr lang="en-US" dirty="0"/>
              <a:t>But in an enterprise, speed creates a new risk: work moves faster than people can see, govern, or explain.</a:t>
            </a:r>
          </a:p>
          <a:p>
            <a:endParaRPr lang="en-US" dirty="0"/>
          </a:p>
          <a:p>
            <a:r>
              <a:rPr lang="en-US" dirty="0"/>
              <a:t>Decisions get made in chats, approvals happen informally, assumptions get buried in code, and suddenly no one can answer simple questions like:</a:t>
            </a:r>
          </a:p>
          <a:p>
            <a:endParaRPr lang="en-US" dirty="0"/>
          </a:p>
          <a:p>
            <a:r>
              <a:rPr lang="en-US" i="1" dirty="0"/>
              <a:t>Why was this built this way?</a:t>
            </a:r>
          </a:p>
          <a:p>
            <a:r>
              <a:rPr lang="en-US" i="1" dirty="0"/>
              <a:t>Who approved it?</a:t>
            </a:r>
          </a:p>
          <a:p>
            <a:r>
              <a:rPr lang="en-US" i="1" dirty="0"/>
              <a:t>What did AI decide versus a human?</a:t>
            </a:r>
          </a:p>
          <a:p>
            <a:endParaRPr lang="en-US" dirty="0"/>
          </a:p>
          <a:p>
            <a:r>
              <a:rPr lang="en-US" dirty="0"/>
              <a:t>That's the real problem we needed to solve.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insight is this:</a:t>
            </a:r>
          </a:p>
          <a:p>
            <a:endParaRPr lang="en-US" dirty="0"/>
          </a:p>
          <a:p>
            <a:r>
              <a:rPr lang="en-US" dirty="0"/>
              <a:t>Enterprise software delivery is not a coding problem — it's a coordination problem.</a:t>
            </a:r>
          </a:p>
          <a:p>
            <a:endParaRPr lang="en-US" dirty="0"/>
          </a:p>
          <a:p>
            <a:r>
              <a:rPr lang="en-US" dirty="0"/>
              <a:t>Code is the easy part.</a:t>
            </a:r>
          </a:p>
          <a:p>
            <a:endParaRPr lang="en-US" dirty="0"/>
          </a:p>
          <a:p>
            <a:r>
              <a:rPr lang="en-US" dirty="0"/>
              <a:t>The hard part is aligning sponsors, product, architects, security, compliance, developers, UAT, and release — all while AI is actively participating.</a:t>
            </a:r>
          </a:p>
          <a:p>
            <a:endParaRPr lang="en-US" dirty="0"/>
          </a:p>
          <a:p>
            <a:r>
              <a:rPr lang="en-US" dirty="0"/>
              <a:t>AI inside an IDE can't orchestrate an organization.</a:t>
            </a:r>
          </a:p>
          <a:p>
            <a:r>
              <a:rPr lang="en-US" dirty="0"/>
              <a:t>DOTBOT exists because enterprises are people systems, not just code systems.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DOTBOT is not another coding assistant.</a:t>
            </a:r>
          </a:p>
          <a:p>
            <a:endParaRPr lang="en-US" dirty="0"/>
          </a:p>
          <a:p>
            <a:r>
              <a:rPr lang="en-US" dirty="0"/>
              <a:t>DOTBOT is the orchestration layer that makes all AI and human activity visible, structured, and traceable.</a:t>
            </a:r>
          </a:p>
          <a:p>
            <a:endParaRPr lang="en-US" dirty="0"/>
          </a:p>
          <a:p>
            <a:r>
              <a:rPr lang="en-US" dirty="0"/>
              <a:t>It works inside the tools we already trust — Jira, Confluence, Azure DevOps — with lightweight integration into LeanIX and Sourcebot for system and repository context.</a:t>
            </a:r>
          </a:p>
          <a:p>
            <a:endParaRPr lang="en-US" dirty="0"/>
          </a:p>
          <a:p>
            <a:r>
              <a:rPr lang="en-US" dirty="0"/>
              <a:t>No new platform. No side channels. No black boxes.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it works in practice.</a:t>
            </a:r>
          </a:p>
          <a:p>
            <a:endParaRPr lang="en-US" dirty="0"/>
          </a:p>
          <a:p>
            <a:r>
              <a:rPr lang="en-US" dirty="0"/>
              <a:t>AI starts doing what it does best — generating designs, code, tests, or change proposals.</a:t>
            </a:r>
          </a:p>
          <a:p>
            <a:endParaRPr lang="en-US" dirty="0"/>
          </a:p>
          <a:p>
            <a:r>
              <a:rPr lang="en-US" dirty="0"/>
              <a:t>When ambiguity appears — unclear requirements, missing constraints, risky assumptions, integration questions — DOTBOT intervenes.</a:t>
            </a:r>
          </a:p>
          <a:p>
            <a:endParaRPr lang="en-US" dirty="0"/>
          </a:p>
          <a:p>
            <a:r>
              <a:rPr lang="en-US" dirty="0"/>
              <a:t>Instead of letting AI guess, DOTBOT asks the right humans the right questions, where they already work.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are delivered through Jira, Confluence, or Azure DevOps.</a:t>
            </a:r>
          </a:p>
          <a:p>
            <a:endParaRPr lang="en-US" dirty="0"/>
          </a:p>
          <a:p>
            <a:r>
              <a:rPr lang="en-US" dirty="0"/>
              <a:t>Human responses aren't just comments — they're captured as structured, versioned inputs.</a:t>
            </a:r>
          </a:p>
          <a:p>
            <a:endParaRPr lang="en-US" dirty="0"/>
          </a:p>
          <a:p>
            <a:r>
              <a:rPr lang="en-US" dirty="0"/>
              <a:t>Decisions, approvals, and clarifications are linked directly to requirements, systems, and outputs.</a:t>
            </a:r>
          </a:p>
          <a:p>
            <a:endParaRPr lang="en-US" dirty="0"/>
          </a:p>
          <a:p>
            <a:r>
              <a:rPr lang="en-US" dirty="0"/>
              <a:t>This is the critical point:</a:t>
            </a:r>
          </a:p>
          <a:p>
            <a:endParaRPr lang="en-US" dirty="0"/>
          </a:p>
          <a:p>
            <a:r>
              <a:rPr lang="en-US" dirty="0"/>
              <a:t>Human judgment is preserved — and made explicit.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answers and approvals are in place, AI continues — now with validated context.</a:t>
            </a:r>
          </a:p>
          <a:p>
            <a:endParaRPr lang="en-US" dirty="0"/>
          </a:p>
          <a:p>
            <a:r>
              <a:rPr lang="en-US" dirty="0"/>
              <a:t>Specifications update.</a:t>
            </a:r>
          </a:p>
          <a:p>
            <a:r>
              <a:rPr lang="en-US" dirty="0"/>
              <a:t>Tests adjust.</a:t>
            </a:r>
          </a:p>
          <a:p>
            <a:r>
              <a:rPr lang="en-US" dirty="0"/>
              <a:t>Code evolves.</a:t>
            </a:r>
          </a:p>
          <a:p>
            <a:r>
              <a:rPr lang="en-US" dirty="0"/>
              <a:t>Risk posture becomes explicit.</a:t>
            </a:r>
          </a:p>
          <a:p>
            <a:endParaRPr lang="en-US" dirty="0"/>
          </a:p>
          <a:p>
            <a:r>
              <a:rPr lang="en-US" dirty="0"/>
              <a:t>This loop continues until scope is stable, approvals are clear, and release readiness is validated.</a:t>
            </a:r>
          </a:p>
          <a:p>
            <a:endParaRPr lang="en-US" dirty="0"/>
          </a:p>
          <a:p>
            <a:r>
              <a:rPr lang="en-US" dirty="0"/>
              <a:t>Nothing gets lost. Nothing is assumed. Nothing is hidden.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DOTBOT is actually structured.</a:t>
            </a:r>
          </a:p>
          <a:p>
            <a:endParaRPr lang="en-US" dirty="0"/>
          </a:p>
          <a:p>
            <a:r>
              <a:rPr lang="en-US" dirty="0"/>
              <a:t>At the top, Jira and Confluence are our human interface — that's where questions get asked, decisions get captured, and approvals happen.</a:t>
            </a:r>
          </a:p>
          <a:p>
            <a:endParaRPr lang="en-US" dirty="0"/>
          </a:p>
          <a:p>
            <a:r>
              <a:rPr lang="en-US" dirty="0"/>
              <a:t>In the middle, we have Recipes — these are profiles that define how DOTBOT operates for different project types. Single repo for straightforward projects, multi-repo for complex cross-service work, greenfield for new builds from scratch.</a:t>
            </a:r>
          </a:p>
          <a:p>
            <a:endParaRPr lang="en-US" dirty="0"/>
          </a:p>
          <a:p>
            <a:r>
              <a:rPr lang="en-US" dirty="0"/>
              <a:t>At the bottom, the repository layer. Every repo contains its own .bot folder — that's DOTBOT's workspace within that codebase.</a:t>
            </a:r>
          </a:p>
          <a:p>
            <a:endParaRPr lang="en-US" dirty="0"/>
          </a:p>
          <a:p>
            <a:r>
              <a:rPr lang="en-US" dirty="0"/>
              <a:t>For multi-repo projects, there's a dedicated orchestration repo with its own .bot folder. It clones all the project repos, plans suggested tasks and changes across them, and creates PRs back to each repo.</a:t>
            </a:r>
          </a:p>
          <a:p>
            <a:endParaRPr lang="en-US" dirty="0"/>
          </a:p>
          <a:p>
            <a:r>
              <a:rPr lang="en-US" dirty="0"/>
              <a:t>This means DOTBOT can coordinate across an entire system — not just one codebase at a time.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any point, we can see:</a:t>
            </a:r>
          </a:p>
          <a:p>
            <a:endParaRPr lang="en-US" dirty="0"/>
          </a:p>
          <a:p>
            <a:r>
              <a:rPr lang="en-US" dirty="0"/>
              <a:t>What AI did</a:t>
            </a:r>
          </a:p>
          <a:p>
            <a:r>
              <a:rPr lang="en-US" dirty="0"/>
              <a:t>What humans decided</a:t>
            </a:r>
          </a:p>
          <a:p>
            <a:r>
              <a:rPr lang="en-US" dirty="0"/>
              <a:t>Who approved what</a:t>
            </a:r>
          </a:p>
          <a:p>
            <a:r>
              <a:rPr lang="en-US" dirty="0"/>
              <a:t>When it happened</a:t>
            </a:r>
          </a:p>
          <a:p>
            <a:r>
              <a:rPr lang="en-US" dirty="0"/>
              <a:t>And why</a:t>
            </a:r>
          </a:p>
          <a:p>
            <a:endParaRPr lang="en-US" dirty="0"/>
          </a:p>
          <a:p>
            <a:r>
              <a:rPr lang="en-US" dirty="0"/>
              <a:t>DOTBOT creates 100% visibility of all AI and human activity, questions, answers, approvals, and outputs — end to end.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orchestration, AI increases speed but reduces explainability.</a:t>
            </a:r>
          </a:p>
          <a:p>
            <a:endParaRPr lang="en-US" dirty="0"/>
          </a:p>
          <a:p>
            <a:r>
              <a:rPr lang="en-US" dirty="0"/>
              <a:t>With DOTBOT, AI increases speed and trust.</a:t>
            </a:r>
          </a:p>
          <a:p>
            <a:endParaRPr lang="en-US" dirty="0"/>
          </a:p>
          <a:p>
            <a:r>
              <a:rPr lang="en-US" dirty="0"/>
              <a:t>For engineers, this means fewer rework loops and clearer decisions.</a:t>
            </a:r>
          </a:p>
          <a:p>
            <a:r>
              <a:rPr lang="en-US" dirty="0"/>
              <a:t>For leaders, it means defensible delivery.</a:t>
            </a:r>
          </a:p>
          <a:p>
            <a:r>
              <a:rPr lang="en-US" dirty="0"/>
              <a:t>For risk and compliance, it means auditability by design.</a:t>
            </a:r>
          </a:p>
          <a:p>
            <a:endParaRPr lang="en-US" dirty="0"/>
          </a:p>
          <a:p>
            <a:r>
              <a:rPr lang="en-US" dirty="0"/>
              <a:t>We didn't automate development.</a:t>
            </a:r>
          </a:p>
          <a:p>
            <a:r>
              <a:rPr lang="en-US" dirty="0"/>
              <a:t>We automated clarity.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DOTBOT doesn't replace people.</a:t>
            </a:r>
          </a:p>
          <a:p>
            <a:endParaRPr lang="en-US" dirty="0"/>
          </a:p>
          <a:p>
            <a:r>
              <a:rPr lang="en-US" dirty="0"/>
              <a:t>It amplifies them.</a:t>
            </a:r>
          </a:p>
          <a:p>
            <a:endParaRPr lang="en-US" dirty="0"/>
          </a:p>
          <a:p>
            <a:r>
              <a:rPr lang="en-US" dirty="0"/>
              <a:t>It turns distributed human knowledge into structured delivery inputs, and makes AI a transparent, enterprise-grade participant in software delivery.</a:t>
            </a:r>
          </a:p>
          <a:p>
            <a:endParaRPr lang="en-US" dirty="0"/>
          </a:p>
          <a:p>
            <a:r>
              <a:rPr lang="en-US" dirty="0"/>
              <a:t>This is how we scale AI development teams without losing control.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11FE-60D1-9839-B9F7-248741E03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C428F-3189-6B04-8636-EFB07150F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43B4C-4C7A-6F18-9AAE-1DE49495F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ACC3A-520E-C0A1-E2EE-66D551D5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B54DE-EE82-A24C-879F-005CA6B8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86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8954-9047-042E-2E44-CB916AE3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722FE-836D-B0B5-4948-9E8A9429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8EB1A-9A60-5B01-6FD4-7AB5F356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B2B6D-B62B-46D6-52C6-C33F42A9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A8970-F46F-BCB7-DB09-B51E2CCA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54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9155-E21A-5775-FAD8-9F91C928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63D31-FED2-454E-1392-FA2413626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A960A-47E7-D07E-D79A-9D34FD76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33601-8F28-5DA1-DB20-09E26773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12258-5889-D6A4-69DE-3EDBE0F8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D1BD-869E-4640-46E0-CC572C25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B2B56-22C4-1733-3466-DF21557C9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EE3DC-AEE6-C241-9DC6-9C187C95F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201D9-56CE-7C24-2A43-A4C8B4F0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A579F-6C47-0CAF-CDB8-38CA83B2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05F85-20C5-ADB9-03CA-6FF56EC4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63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69D5-9E63-A041-54AF-7E6F36EA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8D411-2014-4D6B-66AA-A729D88A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02326-39BD-F8B1-9202-640A96D67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C93BF-E14E-6D52-8403-AC1B8E7A6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B985F-95F5-6B82-9C6E-4401B1821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24F94-18AC-BC43-D99B-6FA4B678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FDF6C-B668-FB75-A5E0-19999588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4313C0-AC08-5136-BE66-E9D49595B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07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7467-246C-9878-3F5D-C99E138D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12F9-BB9B-46DA-732F-3EF43A10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18329-281A-556E-806D-C66C212C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97F1B-81FE-BC52-D996-E9541241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85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89898-70D9-64BB-C3EB-44758DDE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21864-8255-1597-B9F8-57C55618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D19F8-4518-FF96-CCDB-27415722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96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C0E5-E34E-2B2E-6EFB-D4ED87AF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9A449-BD6A-3723-6603-98E8CF33F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2FF26-8C1C-68D7-C7E8-3C08BFE7C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1FC74-5FED-C28E-0BEB-0B34A5F7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43328-FBE7-2A9C-AEE5-FB27E3AB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D717D-E73C-4E03-B7EE-200D4C2B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137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AFA1-C554-D0C6-66F4-BD1F06CB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0B403-1708-DA12-637D-B14A9D0E8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168E3-AF09-0144-2DAB-8755E7055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AFB3E-C70A-A4AD-79CB-1F62F5BE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CD6A5-0FB2-B12B-BDFD-E584CF80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34284-A848-0024-909A-60D41FF9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74FF-52D7-1253-3FCB-ADCE84B4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68ED0-4AEB-B8D2-EB1A-422C0D618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8F596-410D-1947-DA0D-E103909A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ED6D8-C2F9-FF1A-18D0-4F10289C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31ED-2135-F35D-7162-9F597906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69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7F2C1-9D47-CA1C-4972-CE5E3AAA9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A1543-BBBF-344C-99BB-C944B4E20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2F2F2-BF2F-B8E7-ECA9-1B99FAF3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46FCF-0834-785E-1F93-088527D1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D0258-B89C-E400-67BC-BDD4E418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01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45AE91-2B28-4695-3FA6-C246CE85796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72000"/>
          </a:blip>
          <a:stretch>
            <a:fillRect/>
          </a:stretch>
        </p:blipFill>
        <p:spPr>
          <a:xfrm>
            <a:off x="74472" y="0"/>
            <a:ext cx="120430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01449-0BC5-4AA7-D103-63B2E841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6FE6A-DAE4-58E4-D7DE-FD595F18F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BEF16-56AF-E21D-40B0-4F114939C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3311C-DE74-4438-BB66-E5B13048FD3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1B0C5-4C30-F7BD-2BE3-AE3858ADD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8735E-2F8C-EB19-5276-BD2C2CEEF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52347-8781-46FC-B830-61AE1913A525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TopBezel"/>
          <p:cNvSpPr/>
          <p:nvPr userDrawn="1"/>
        </p:nvSpPr>
        <p:spPr>
          <a:xfrm>
            <a:off x="0" y="0"/>
            <a:ext cx="12192000" cy="54000"/>
          </a:xfrm>
          <a:prstGeom prst="rect">
            <a:avLst/>
          </a:prstGeom>
          <a:solidFill>
            <a:srgbClr val="3A3B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BotBezel"/>
          <p:cNvSpPr/>
          <p:nvPr userDrawn="1"/>
        </p:nvSpPr>
        <p:spPr>
          <a:xfrm>
            <a:off x="0" y="6804000"/>
            <a:ext cx="12192000" cy="54000"/>
          </a:xfrm>
          <a:prstGeom prst="rect">
            <a:avLst/>
          </a:prstGeom>
          <a:solidFill>
            <a:srgbClr val="3A3B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AmberLine"/>
          <p:cNvSpPr/>
          <p:nvPr userDrawn="1"/>
        </p:nvSpPr>
        <p:spPr>
          <a:xfrm>
            <a:off x="0" y="54000"/>
            <a:ext cx="12192000" cy="12000"/>
          </a:xfrm>
          <a:prstGeom prst="rect">
            <a:avLst/>
          </a:prstGeom>
          <a:solidFill>
            <a:srgbClr val="E8A030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AmberLine2"/>
          <p:cNvSpPr/>
          <p:nvPr userDrawn="1"/>
        </p:nvSpPr>
        <p:spPr>
          <a:xfrm>
            <a:off x="0" y="6792000"/>
            <a:ext cx="12192000" cy="12000"/>
          </a:xfrm>
          <a:prstGeom prst="rect">
            <a:avLst/>
          </a:prstGeom>
          <a:solidFill>
            <a:srgbClr val="E8A030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LeftBezel"/>
          <p:cNvSpPr/>
          <p:nvPr userDrawn="1"/>
        </p:nvSpPr>
        <p:spPr>
          <a:xfrm>
            <a:off x="0" y="54000"/>
            <a:ext cx="36000" cy="6750000"/>
          </a:xfrm>
          <a:prstGeom prst="rect">
            <a:avLst/>
          </a:prstGeom>
          <a:solidFill>
            <a:srgbClr val="3A3B48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RightBezel"/>
          <p:cNvSpPr/>
          <p:nvPr userDrawn="1"/>
        </p:nvSpPr>
        <p:spPr>
          <a:xfrm>
            <a:off x="12156000" y="54000"/>
            <a:ext cx="36000" cy="6750000"/>
          </a:xfrm>
          <a:prstGeom prst="rect">
            <a:avLst/>
          </a:prstGeom>
          <a:solidFill>
            <a:srgbClr val="3A3B48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" name="SysLabel"/>
          <p:cNvSpPr/>
          <p:nvPr userDrawn="1"/>
        </p:nvSpPr>
        <p:spPr>
          <a:xfrm>
            <a:off x="150000" y="6600000"/>
            <a:ext cx="2400000" cy="2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en-US" sz="800" spc="150" dirty="0">
                <a:solidFill>
                  <a:srgbClr val="888899"/>
                </a:solidFill>
                <a:latin typeface="Consolas"/>
              </a:rPr>
              <a:t>SYS &gt; DOTBOT v1.0 // READY</a:t>
            </a:r>
          </a:p>
        </p:txBody>
      </p:sp>
      <p:sp>
        <p:nvSpPr>
          <p:cNvPr id="910" name="LED0"/>
          <p:cNvSpPr/>
          <p:nvPr userDrawn="1"/>
        </p:nvSpPr>
        <p:spPr>
          <a:xfrm>
            <a:off x="10200000" y="6630000"/>
            <a:ext cx="72000" cy="72000"/>
          </a:xfrm>
          <a:prstGeom prst="ellipse">
            <a:avLst/>
          </a:prstGeom>
          <a:solidFill>
            <a:srgbClr val="00FF88"/>
          </a:solidFill>
          <a:ln w="0">
            <a:noFill/>
          </a:ln>
          <a:effectLst>
            <a:outerShdw blurRad="100000" algn="ctr" rotWithShape="0">
              <a:srgbClr val="00FF8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0" name="LEDLbl0"/>
          <p:cNvSpPr/>
          <p:nvPr userDrawn="1"/>
        </p:nvSpPr>
        <p:spPr>
          <a:xfrm>
            <a:off x="10150000" y="6710000"/>
            <a:ext cx="180000" cy="1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600" spc="200" dirty="0">
                <a:solidFill>
                  <a:srgbClr val="888899"/>
                </a:solidFill>
                <a:latin typeface="Consolas"/>
              </a:rPr>
              <a:t>SYS</a:t>
            </a:r>
          </a:p>
        </p:txBody>
      </p:sp>
      <p:sp>
        <p:nvSpPr>
          <p:cNvPr id="911" name="LED1"/>
          <p:cNvSpPr/>
          <p:nvPr userDrawn="1"/>
        </p:nvSpPr>
        <p:spPr>
          <a:xfrm>
            <a:off x="10700000" y="6630000"/>
            <a:ext cx="72000" cy="72000"/>
          </a:xfrm>
          <a:prstGeom prst="ellipse">
            <a:avLst/>
          </a:prstGeom>
          <a:solidFill>
            <a:srgbClr val="E8A030"/>
          </a:solidFill>
          <a:ln w="0">
            <a:noFill/>
          </a:ln>
          <a:effectLst>
            <a:outerShdw blurRad="100000" algn="ctr" rotWithShape="0">
              <a:srgbClr val="E8A03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1" name="LEDLbl1"/>
          <p:cNvSpPr/>
          <p:nvPr userDrawn="1"/>
        </p:nvSpPr>
        <p:spPr>
          <a:xfrm>
            <a:off x="10650000" y="6710000"/>
            <a:ext cx="180000" cy="1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600" spc="200" dirty="0">
                <a:solidFill>
                  <a:srgbClr val="888899"/>
                </a:solidFill>
                <a:latin typeface="Consolas"/>
              </a:rPr>
              <a:t>NET</a:t>
            </a:r>
          </a:p>
        </p:txBody>
      </p:sp>
      <p:sp>
        <p:nvSpPr>
          <p:cNvPr id="912" name="LED2"/>
          <p:cNvSpPr/>
          <p:nvPr userDrawn="1"/>
        </p:nvSpPr>
        <p:spPr>
          <a:xfrm>
            <a:off x="11200000" y="6630000"/>
            <a:ext cx="72000" cy="72000"/>
          </a:xfrm>
          <a:prstGeom prst="ellipse">
            <a:avLst/>
          </a:prstGeom>
          <a:solidFill>
            <a:srgbClr val="3A3B48"/>
          </a:solidFill>
          <a:ln w="0">
            <a:noFill/>
          </a:ln>
          <a:effectLst>
            <a:outerShdw blurRad="100000" algn="ctr" rotWithShape="0">
              <a:srgbClr val="3A3B4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2" name="LEDLbl2"/>
          <p:cNvSpPr/>
          <p:nvPr userDrawn="1"/>
        </p:nvSpPr>
        <p:spPr>
          <a:xfrm>
            <a:off x="11150000" y="6710000"/>
            <a:ext cx="180000" cy="13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600" spc="200" dirty="0">
                <a:solidFill>
                  <a:srgbClr val="888899"/>
                </a:solidFill>
                <a:latin typeface="Consolas"/>
              </a:rPr>
              <a:t>AUX</a:t>
            </a:r>
          </a:p>
        </p:txBody>
      </p:sp>
    </p:spTree>
    <p:extLst>
      <p:ext uri="{BB962C8B-B14F-4D97-AF65-F5344CB8AC3E}">
        <p14:creationId xmlns:p14="http://schemas.microsoft.com/office/powerpoint/2010/main" val="396470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A03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B8782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B8782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B8782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8782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8782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8782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8782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8782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8782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B87820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60CE-F632-3A5F-86DF-9B2CC1F15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400"/>
              <a:t>DOTBOT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492AD-9FE0-49A2-7082-0E0460CB0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2200" dirty="0">
                <a:solidFill>
                  <a:srgbClr val="B87820"/>
                </a:solidFill>
                <a:latin typeface="Consolas"/>
              </a:rPr>
              <a:t>AI Development for Teams.</a:t>
            </a:r>
          </a:p>
          <a:p>
            <a:pPr algn="ctr">
              <a:buNone/>
            </a:pPr>
            <a:r>
              <a:rPr lang="en-US" sz="2200" dirty="0">
                <a:solidFill>
                  <a:srgbClr val="00FF88"/>
                </a:solidFill>
                <a:latin typeface="Consolas"/>
              </a:rPr>
              <a:t>Visible. Governed. Trusted.</a:t>
            </a:r>
          </a:p>
        </p:txBody>
      </p:sp>
    </p:spTree>
    <p:extLst>
      <p:ext uri="{BB962C8B-B14F-4D97-AF65-F5344CB8AC3E}">
        <p14:creationId xmlns:p14="http://schemas.microsoft.com/office/powerpoint/2010/main" val="26205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9FC0-75AC-6B10-1103-6EA3619E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BA17C-9EF7-5A12-DFF9-1DD393D89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AI accelerates delivery — but speed without visibility creates new risk.</a:t>
            </a:r>
          </a:p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Work moves faster than people can see, govern, or explain.</a:t>
            </a:r>
          </a:p>
          <a:p>
            <a:pPr>
              <a:buNone/>
            </a:pPr>
            <a:endParaRPr lang="en-US" sz="1800" dirty="0">
              <a:solidFill>
                <a:srgbClr val="B87820"/>
              </a:solidFill>
              <a:latin typeface="Consolas"/>
            </a:endParaRPr>
          </a:p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Decisions get buried. Approvals happen informally. Context is lost.</a:t>
            </a:r>
          </a:p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No one can answer the simple questions:</a:t>
            </a:r>
          </a:p>
          <a:p>
            <a:pPr marL="457200" indent="0">
              <a:buNone/>
            </a:pPr>
            <a:r>
              <a:rPr lang="en-US" sz="1800" dirty="0">
                <a:solidFill>
                  <a:srgbClr val="E8A030"/>
                </a:solidFill>
                <a:latin typeface="Consolas"/>
              </a:rPr>
              <a:t>&gt; Why was this built this way?</a:t>
            </a:r>
          </a:p>
          <a:p>
            <a:pPr marL="457200" indent="0">
              <a:buNone/>
            </a:pPr>
            <a:r>
              <a:rPr lang="en-US" sz="1800" dirty="0">
                <a:solidFill>
                  <a:srgbClr val="E8A030"/>
                </a:solidFill>
                <a:latin typeface="Consolas"/>
              </a:rPr>
              <a:t>&gt; Who approved it?</a:t>
            </a:r>
          </a:p>
          <a:p>
            <a:pPr marL="457200" indent="0">
              <a:buNone/>
            </a:pPr>
            <a:r>
              <a:rPr lang="en-US" sz="1800" dirty="0">
                <a:solidFill>
                  <a:srgbClr val="E8A030"/>
                </a:solidFill>
                <a:latin typeface="Consolas"/>
              </a:rPr>
              <a:t>&gt; What did AI decide vs. a human?</a:t>
            </a:r>
          </a:p>
        </p:txBody>
      </p:sp>
    </p:spTree>
    <p:extLst>
      <p:ext uri="{BB962C8B-B14F-4D97-AF65-F5344CB8AC3E}">
        <p14:creationId xmlns:p14="http://schemas.microsoft.com/office/powerpoint/2010/main" val="93392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E900-2C73-B682-C1BA-18832189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The Key Insight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7C658-DC30-1B9C-66E5-CAFB2CCA4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solidFill>
                  <a:srgbClr val="B87820"/>
                </a:solidFill>
                <a:latin typeface="Consolas"/>
              </a:rPr>
              <a:t>Enterprise software delivery is not a coding problem —</a:t>
            </a:r>
          </a:p>
          <a:p>
            <a:pPr>
              <a:buNone/>
            </a:pPr>
            <a:r>
              <a:rPr lang="en-US" sz="2200" dirty="0">
                <a:solidFill>
                  <a:srgbClr val="00FF88"/>
                </a:solidFill>
                <a:latin typeface="Consolas"/>
              </a:rPr>
              <a:t>it's a coordination problem.</a:t>
            </a:r>
          </a:p>
        </p:txBody>
      </p:sp>
    </p:spTree>
    <p:extLst>
      <p:ext uri="{BB962C8B-B14F-4D97-AF65-F5344CB8AC3E}">
        <p14:creationId xmlns:p14="http://schemas.microsoft.com/office/powerpoint/2010/main" val="56926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9D0B-2F45-B614-414A-8DD35B6B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What DOTBOT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2B9D1-244B-86ED-E721-E24FABEDF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The </a:t>
            </a:r>
            <a:r>
              <a:rPr lang="en-US" sz="1800" b="1" dirty="0">
                <a:solidFill>
                  <a:srgbClr val="E8A030"/>
                </a:solidFill>
                <a:latin typeface="Consolas"/>
              </a:rPr>
              <a:t>orchestration layer</a:t>
            </a:r>
            <a:r>
              <a:rPr lang="en-US" sz="1800" dirty="0">
                <a:solidFill>
                  <a:srgbClr val="B87820"/>
                </a:solidFill>
                <a:latin typeface="Consolas"/>
              </a:rPr>
              <a:t> that makes all AI and human activity visible, structured, and traceable.</a:t>
            </a:r>
          </a:p>
          <a:p>
            <a:pPr>
              <a:buNone/>
            </a:pPr>
            <a:endParaRPr lang="en-US" sz="1800" dirty="0">
              <a:solidFill>
                <a:srgbClr val="B87820"/>
              </a:solidFill>
              <a:latin typeface="Consolas"/>
            </a:endParaRPr>
          </a:p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Works inside the tools you already trust: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00FF88"/>
                </a:solidFill>
                <a:latin typeface="Consolas"/>
              </a:rPr>
              <a:t>Jira  ·  Confluence  ·  Azure DevOps</a:t>
            </a:r>
          </a:p>
          <a:p>
            <a:pPr>
              <a:buNone/>
            </a:pPr>
            <a:endParaRPr lang="en-US" sz="1600" dirty="0">
              <a:solidFill>
                <a:srgbClr val="888899"/>
              </a:solidFill>
              <a:latin typeface="Consolas"/>
            </a:endParaRPr>
          </a:p>
          <a:p>
            <a:pPr>
              <a:buNone/>
            </a:pPr>
            <a:r>
              <a:rPr lang="en-US" sz="1600" dirty="0">
                <a:solidFill>
                  <a:srgbClr val="888899"/>
                </a:solidFill>
                <a:latin typeface="Consolas"/>
              </a:rPr>
              <a:t>Lightweight integration with LeanIX and Sourcebot for system and repository context.</a:t>
            </a:r>
          </a:p>
          <a:p>
            <a:pPr>
              <a:buNone/>
            </a:pPr>
            <a:endParaRPr lang="en-US" sz="1800" b="1" dirty="0">
              <a:solidFill>
                <a:srgbClr val="E8A030"/>
              </a:solidFill>
              <a:latin typeface="Consolas"/>
            </a:endParaRPr>
          </a:p>
          <a:p>
            <a:pPr>
              <a:buNone/>
            </a:pPr>
            <a:r>
              <a:rPr lang="en-US" sz="1800" b="1" dirty="0">
                <a:solidFill>
                  <a:srgbClr val="E8A030"/>
                </a:solidFill>
                <a:latin typeface="Consolas"/>
              </a:rPr>
              <a:t>No new platform. No side channels. No black boxes.</a:t>
            </a:r>
          </a:p>
        </p:txBody>
      </p:sp>
    </p:spTree>
    <p:extLst>
      <p:ext uri="{BB962C8B-B14F-4D97-AF65-F5344CB8AC3E}">
        <p14:creationId xmlns:p14="http://schemas.microsoft.com/office/powerpoint/2010/main" val="365720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6605-48C2-15AE-3190-DB035F04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What DOTBOT Actually Does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8BC0E0-0254-0D40-5299-827D4BC4DD4A}"/>
              </a:ext>
            </a:extLst>
          </p:cNvPr>
          <p:cNvGrpSpPr/>
          <p:nvPr/>
        </p:nvGrpSpPr>
        <p:grpSpPr>
          <a:xfrm>
            <a:off x="1446000" y="2521777"/>
            <a:ext cx="9300000" cy="3157200"/>
            <a:chOff x="1446000" y="2000000"/>
            <a:chExt cx="9300000" cy="3157200"/>
          </a:xfrm>
        </p:grpSpPr>
        <p:sp>
          <p:nvSpPr>
            <p:cNvPr id="50" name="Step51"/>
            <p:cNvSpPr/>
            <p:nvPr/>
          </p:nvSpPr>
          <p:spPr>
            <a:xfrm>
              <a:off x="1446000" y="2000000"/>
              <a:ext cx="2700000" cy="2400000"/>
            </a:xfrm>
            <a:prstGeom prst="roundRect">
              <a:avLst>
                <a:gd name="adj" fmla="val 10000"/>
              </a:avLst>
            </a:prstGeom>
            <a:solidFill>
              <a:srgbClr val="E8A030">
                <a:alpha val="10000"/>
              </a:srgbClr>
            </a:solidFill>
            <a:ln w="19050">
              <a:solidFill>
                <a:srgbClr val="E8A030"/>
              </a:solidFill>
            </a:ln>
          </p:spPr>
          <p:txBody>
            <a:bodyPr lIns="182880" tIns="182880" rIns="182880" bIns="91440" anchor="t"/>
            <a:lstStyle/>
            <a:p>
              <a:pPr algn="ctr">
                <a:buNone/>
              </a:pPr>
              <a:r>
                <a:rPr lang="en-US" sz="1800" b="1" dirty="0">
                  <a:solidFill>
                    <a:srgbClr val="E8A030"/>
                  </a:solidFill>
                </a:rPr>
                <a:t>AI Generates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Designs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Code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Tests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Change Proposals</a:t>
              </a:r>
            </a:p>
          </p:txBody>
        </p:sp>
        <p:sp>
          <p:nvSpPr>
            <p:cNvPr id="51" name="Step52"/>
            <p:cNvSpPr/>
            <p:nvPr/>
          </p:nvSpPr>
          <p:spPr>
            <a:xfrm>
              <a:off x="4746000" y="2000000"/>
              <a:ext cx="2700000" cy="2400000"/>
            </a:xfrm>
            <a:prstGeom prst="roundRect">
              <a:avLst>
                <a:gd name="adj" fmla="val 10000"/>
              </a:avLst>
            </a:prstGeom>
            <a:solidFill>
              <a:srgbClr val="5FB3B3">
                <a:alpha val="10000"/>
              </a:srgbClr>
            </a:solidFill>
            <a:ln w="19050">
              <a:solidFill>
                <a:srgbClr val="5FB3B3"/>
              </a:solidFill>
            </a:ln>
          </p:spPr>
          <p:txBody>
            <a:bodyPr lIns="182880" tIns="182880" rIns="182880" bIns="91440" anchor="t"/>
            <a:lstStyle/>
            <a:p>
              <a:pPr algn="ctr">
                <a:buNone/>
              </a:pPr>
              <a:r>
                <a:rPr lang="en-US" sz="1800" b="1" dirty="0">
                  <a:solidFill>
                    <a:srgbClr val="5FB3B3"/>
                  </a:solidFill>
                </a:rPr>
                <a:t>Ambiguity Detected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Unclear requirements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Missing constraints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Risky assumptions</a:t>
              </a:r>
            </a:p>
          </p:txBody>
        </p:sp>
        <p:sp>
          <p:nvSpPr>
            <p:cNvPr id="52" name="Step53"/>
            <p:cNvSpPr/>
            <p:nvPr/>
          </p:nvSpPr>
          <p:spPr>
            <a:xfrm>
              <a:off x="8046000" y="2000000"/>
              <a:ext cx="2700000" cy="2400000"/>
            </a:xfrm>
            <a:prstGeom prst="roundRect">
              <a:avLst>
                <a:gd name="adj" fmla="val 10000"/>
              </a:avLst>
            </a:prstGeom>
            <a:solidFill>
              <a:srgbClr val="00FF88">
                <a:alpha val="10000"/>
              </a:srgbClr>
            </a:solidFill>
            <a:ln w="19050">
              <a:solidFill>
                <a:srgbClr val="00FF88"/>
              </a:solidFill>
            </a:ln>
          </p:spPr>
          <p:txBody>
            <a:bodyPr lIns="182880" tIns="182880" rIns="182880" bIns="91440" anchor="t"/>
            <a:lstStyle/>
            <a:p>
              <a:pPr algn="ctr">
                <a:buNone/>
              </a:pPr>
              <a:r>
                <a:rPr lang="en-US" sz="1800" b="1" dirty="0">
                  <a:solidFill>
                    <a:srgbClr val="00FF88"/>
                  </a:solidFill>
                </a:rPr>
                <a:t>DOTBOT Routes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Right questions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Right humans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Right tools</a:t>
              </a:r>
            </a:p>
          </p:txBody>
        </p:sp>
        <p:sp>
          <p:nvSpPr>
            <p:cNvPr id="53" name="Arrow0"/>
            <p:cNvSpPr/>
            <p:nvPr/>
          </p:nvSpPr>
          <p:spPr>
            <a:xfrm>
              <a:off x="4196000" y="3050000"/>
              <a:ext cx="500000" cy="3000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8A030">
                <a:alpha val="5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Arrow1"/>
            <p:cNvSpPr/>
            <p:nvPr/>
          </p:nvSpPr>
          <p:spPr>
            <a:xfrm>
              <a:off x="7496000" y="3050000"/>
              <a:ext cx="500000" cy="3000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8A030">
                <a:alpha val="5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lowSub"/>
            <p:cNvSpPr/>
            <p:nvPr/>
          </p:nvSpPr>
          <p:spPr>
            <a:xfrm>
              <a:off x="1524000" y="4700000"/>
              <a:ext cx="9144000" cy="4572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/>
            <a:lstStyle/>
            <a:p>
              <a:pPr algn="ctr">
                <a:buNone/>
              </a:pPr>
              <a:r>
                <a:rPr lang="en-US" sz="1600" dirty="0">
                  <a:solidFill>
                    <a:srgbClr val="888899"/>
                  </a:solidFill>
                </a:rPr>
                <a:t>Instead of letting AI guess, DOTBOT </a:t>
              </a:r>
              <a:r>
                <a:rPr lang="en-US" sz="1600" b="1" dirty="0">
                  <a:solidFill>
                    <a:srgbClr val="E8A030"/>
                  </a:solidFill>
                </a:rPr>
                <a:t>asks the right humans the right questions</a:t>
              </a:r>
            </a:p>
          </p:txBody>
        </p:sp>
        <p:pic>
          <p:nvPicPr>
            <p:cNvPr id="56" name="Graphic 56" descr="AI icon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71750" y="3752023"/>
              <a:ext cx="457200" cy="457200"/>
            </a:xfrm>
            <a:prstGeom prst="rect">
              <a:avLst/>
            </a:prstGeom>
          </p:spPr>
        </p:pic>
        <p:pic>
          <p:nvPicPr>
            <p:cNvPr id="57" name="Graphic 57" descr="People icon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75750" y="3752023"/>
              <a:ext cx="457200" cy="457200"/>
            </a:xfrm>
            <a:prstGeom prst="rect">
              <a:avLst/>
            </a:prstGeom>
          </p:spPr>
        </p:pic>
        <p:pic>
          <p:nvPicPr>
            <p:cNvPr id="58" name="Graphic 58" descr="Ambiguity question mark icon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7400" y="3752023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920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7A47-DB07-026D-4FA9-4EF8FDC2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Humans Stay in Control</a:t>
            </a:r>
          </a:p>
        </p:txBody>
      </p:sp>
      <p:sp>
        <p:nvSpPr>
          <p:cNvPr id="50" name="Card0"/>
          <p:cNvSpPr/>
          <p:nvPr/>
        </p:nvSpPr>
        <p:spPr>
          <a:xfrm>
            <a:off x="996000" y="1790500"/>
            <a:ext cx="3200000" cy="1200000"/>
          </a:xfrm>
          <a:prstGeom prst="roundRect">
            <a:avLst>
              <a:gd name="adj" fmla="val 10000"/>
            </a:avLst>
          </a:prstGeom>
          <a:solidFill>
            <a:srgbClr val="E8A030">
              <a:alpha val="10000"/>
            </a:srgbClr>
          </a:solidFill>
          <a:ln w="19050">
            <a:solidFill>
              <a:srgbClr val="E8A030"/>
            </a:solidFill>
          </a:ln>
        </p:spPr>
        <p:txBody>
          <a:bodyPr lIns="182880" tIns="91440" rIns="18288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E8A030"/>
                </a:solidFill>
              </a:rPr>
              <a:t>Jira</a:t>
            </a:r>
          </a:p>
          <a:p>
            <a:pPr algn="ctr">
              <a:buNone/>
            </a:pPr>
            <a:r>
              <a:rPr lang="en-US" sz="1400" dirty="0">
                <a:solidFill>
                  <a:srgbClr val="888899"/>
                </a:solidFill>
              </a:rPr>
              <a:t>Questions delivered
where teams work</a:t>
            </a:r>
          </a:p>
        </p:txBody>
      </p:sp>
      <p:sp>
        <p:nvSpPr>
          <p:cNvPr id="51" name="Card1"/>
          <p:cNvSpPr/>
          <p:nvPr/>
        </p:nvSpPr>
        <p:spPr>
          <a:xfrm>
            <a:off x="4496000" y="1790500"/>
            <a:ext cx="3200000" cy="1200000"/>
          </a:xfrm>
          <a:prstGeom prst="roundRect">
            <a:avLst>
              <a:gd name="adj" fmla="val 10000"/>
            </a:avLst>
          </a:prstGeom>
          <a:solidFill>
            <a:srgbClr val="00FF88">
              <a:alpha val="10000"/>
            </a:srgbClr>
          </a:solidFill>
          <a:ln w="19050">
            <a:solidFill>
              <a:srgbClr val="00FF88"/>
            </a:solidFill>
          </a:ln>
        </p:spPr>
        <p:txBody>
          <a:bodyPr lIns="182880" tIns="91440" rIns="18288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00FF88"/>
                </a:solidFill>
              </a:rPr>
              <a:t>Confluence</a:t>
            </a:r>
          </a:p>
          <a:p>
            <a:pPr algn="ctr">
              <a:buNone/>
            </a:pPr>
            <a:r>
              <a:rPr lang="en-US" sz="1400" dirty="0">
                <a:solidFill>
                  <a:srgbClr val="888899"/>
                </a:solidFill>
              </a:rPr>
              <a:t>Decisions captured
as versioned inputs</a:t>
            </a:r>
          </a:p>
        </p:txBody>
      </p:sp>
      <p:sp>
        <p:nvSpPr>
          <p:cNvPr id="52" name="Card2"/>
          <p:cNvSpPr/>
          <p:nvPr/>
        </p:nvSpPr>
        <p:spPr>
          <a:xfrm>
            <a:off x="7996000" y="1790500"/>
            <a:ext cx="3200000" cy="1200000"/>
          </a:xfrm>
          <a:prstGeom prst="roundRect">
            <a:avLst>
              <a:gd name="adj" fmla="val 10000"/>
            </a:avLst>
          </a:prstGeom>
          <a:solidFill>
            <a:srgbClr val="AA88FF">
              <a:alpha val="10000"/>
            </a:srgbClr>
          </a:solidFill>
          <a:ln w="19050">
            <a:solidFill>
              <a:srgbClr val="AA88FF"/>
            </a:solidFill>
          </a:ln>
        </p:spPr>
        <p:txBody>
          <a:bodyPr lIns="182880" tIns="91440" rIns="18288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AA88FF"/>
                </a:solidFill>
              </a:rPr>
              <a:t>Azure DevOps</a:t>
            </a:r>
          </a:p>
          <a:p>
            <a:pPr algn="ctr">
              <a:buNone/>
            </a:pPr>
            <a:r>
              <a:rPr lang="en-US" sz="1400" dirty="0">
                <a:solidFill>
                  <a:srgbClr val="888899"/>
                </a:solidFill>
              </a:rPr>
              <a:t>Approvals linked
to requirements</a:t>
            </a:r>
          </a:p>
        </p:txBody>
      </p:sp>
      <p:sp>
        <p:nvSpPr>
          <p:cNvPr id="53" name="DnArrow0"/>
          <p:cNvSpPr/>
          <p:nvPr/>
        </p:nvSpPr>
        <p:spPr>
          <a:xfrm>
            <a:off x="2496000" y="3090499"/>
            <a:ext cx="200000" cy="35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A030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DnArrow1"/>
          <p:cNvSpPr/>
          <p:nvPr/>
        </p:nvSpPr>
        <p:spPr>
          <a:xfrm>
            <a:off x="5996000" y="3090499"/>
            <a:ext cx="200000" cy="35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A030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DnArrow2"/>
          <p:cNvSpPr/>
          <p:nvPr/>
        </p:nvSpPr>
        <p:spPr>
          <a:xfrm>
            <a:off x="9496000" y="3090499"/>
            <a:ext cx="200000" cy="35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A030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esultBar"/>
          <p:cNvSpPr/>
          <p:nvPr/>
        </p:nvSpPr>
        <p:spPr>
          <a:xfrm>
            <a:off x="996000" y="3540499"/>
            <a:ext cx="10200000" cy="800000"/>
          </a:xfrm>
          <a:prstGeom prst="roundRect">
            <a:avLst>
              <a:gd name="adj" fmla="val 10000"/>
            </a:avLst>
          </a:prstGeom>
          <a:solidFill>
            <a:srgbClr val="E8A030">
              <a:alpha val="15000"/>
            </a:srgbClr>
          </a:solidFill>
          <a:ln w="25400">
            <a:solidFill>
              <a:srgbClr val="E8A030"/>
            </a:solidFill>
          </a:ln>
        </p:spPr>
        <p:txBody>
          <a:bodyPr lIns="182880" tIns="91440" rIns="18288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E8A030"/>
                </a:solidFill>
              </a:rPr>
              <a:t>Human judgment is preserved — and made explicit</a:t>
            </a:r>
          </a:p>
          <a:p>
            <a:pPr algn="ctr">
              <a:buNone/>
            </a:pPr>
            <a:r>
              <a:rPr lang="en-US" sz="1400" dirty="0">
                <a:solidFill>
                  <a:srgbClr val="888899"/>
                </a:solidFill>
              </a:rPr>
              <a:t>Structured  ·  Versioned  ·  Linked to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0752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2189-E421-08C1-F96D-A97BFC4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The Continuous Loop</a:t>
            </a:r>
          </a:p>
        </p:txBody>
      </p:sp>
      <p:sp>
        <p:nvSpPr>
          <p:cNvPr id="59" name="Tagline"/>
          <p:cNvSpPr/>
          <p:nvPr/>
        </p:nvSpPr>
        <p:spPr>
          <a:xfrm>
            <a:off x="1524000" y="6415900"/>
            <a:ext cx="9144000" cy="36576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B87820"/>
                </a:solidFill>
              </a:rPr>
              <a:t>Nothing gets lost. Nothing is assumed. Nothing is hidden.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C8F6E-DFB0-3DF3-802A-AFDCBA869F54}"/>
              </a:ext>
            </a:extLst>
          </p:cNvPr>
          <p:cNvGrpSpPr/>
          <p:nvPr/>
        </p:nvGrpSpPr>
        <p:grpSpPr>
          <a:xfrm>
            <a:off x="3296000" y="1564544"/>
            <a:ext cx="5600000" cy="4500000"/>
            <a:chOff x="3296000" y="1967500"/>
            <a:chExt cx="5600000" cy="4500000"/>
          </a:xfrm>
        </p:grpSpPr>
        <p:sp>
          <p:nvSpPr>
            <p:cNvPr id="50" name="Arrow0"/>
            <p:cNvSpPr/>
            <p:nvPr/>
          </p:nvSpPr>
          <p:spPr>
            <a:xfrm rot="24300000">
              <a:off x="6867561" y="3185938"/>
              <a:ext cx="260000" cy="260000"/>
            </a:xfrm>
            <a:prstGeom prst="triangle">
              <a:avLst/>
            </a:prstGeom>
            <a:solidFill>
              <a:srgbClr val="E8A030">
                <a:alpha val="6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Arrow1"/>
            <p:cNvSpPr/>
            <p:nvPr/>
          </p:nvSpPr>
          <p:spPr>
            <a:xfrm rot="8100000">
              <a:off x="6867561" y="4989061"/>
              <a:ext cx="260000" cy="260000"/>
            </a:xfrm>
            <a:prstGeom prst="triangle">
              <a:avLst/>
            </a:prstGeom>
            <a:solidFill>
              <a:srgbClr val="E8A030">
                <a:alpha val="6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Arrow2"/>
            <p:cNvSpPr/>
            <p:nvPr/>
          </p:nvSpPr>
          <p:spPr>
            <a:xfrm rot="13500000">
              <a:off x="5064439" y="4989061"/>
              <a:ext cx="260000" cy="260000"/>
            </a:xfrm>
            <a:prstGeom prst="triangle">
              <a:avLst/>
            </a:prstGeom>
            <a:solidFill>
              <a:srgbClr val="E8A030">
                <a:alpha val="6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Arrow3"/>
            <p:cNvSpPr/>
            <p:nvPr/>
          </p:nvSpPr>
          <p:spPr>
            <a:xfrm rot="18900000">
              <a:off x="5064439" y="3185938"/>
              <a:ext cx="260000" cy="260000"/>
            </a:xfrm>
            <a:prstGeom prst="triangle">
              <a:avLst/>
            </a:prstGeom>
            <a:solidFill>
              <a:srgbClr val="E8A030">
                <a:alpha val="60000"/>
              </a:srgbClr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Node_AI Generates"/>
            <p:cNvSpPr/>
            <p:nvPr/>
          </p:nvSpPr>
          <p:spPr>
            <a:xfrm>
              <a:off x="4996000" y="1967500"/>
              <a:ext cx="2200000" cy="1100000"/>
            </a:xfrm>
            <a:prstGeom prst="roundRect">
              <a:avLst>
                <a:gd name="adj" fmla="val 16667"/>
              </a:avLst>
            </a:prstGeom>
            <a:solidFill>
              <a:srgbClr val="E8A030">
                <a:alpha val="15000"/>
              </a:srgbClr>
            </a:solidFill>
            <a:ln w="19050">
              <a:solidFill>
                <a:srgbClr val="E8A030"/>
              </a:solidFill>
            </a:ln>
          </p:spPr>
          <p:txBody>
            <a:bodyPr lIns="91440" tIns="45720" rIns="91440" bIns="45720" anchor="ctr" anchorCtr="1"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E8A030"/>
                  </a:solidFill>
                </a:rPr>
                <a:t>AI Generates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Code · Tests · Designs</a:t>
              </a:r>
            </a:p>
          </p:txBody>
        </p:sp>
        <p:sp>
          <p:nvSpPr>
            <p:cNvPr id="55" name="Node_Ambiguity"/>
            <p:cNvSpPr/>
            <p:nvPr/>
          </p:nvSpPr>
          <p:spPr>
            <a:xfrm>
              <a:off x="6696000" y="3667499"/>
              <a:ext cx="2200000" cy="1100000"/>
            </a:xfrm>
            <a:prstGeom prst="roundRect">
              <a:avLst>
                <a:gd name="adj" fmla="val 16667"/>
              </a:avLst>
            </a:prstGeom>
            <a:solidFill>
              <a:srgbClr val="5FB3B3">
                <a:alpha val="15000"/>
              </a:srgbClr>
            </a:solidFill>
            <a:ln w="19050">
              <a:solidFill>
                <a:srgbClr val="5FB3B3"/>
              </a:solidFill>
            </a:ln>
          </p:spPr>
          <p:txBody>
            <a:bodyPr lIns="91440" tIns="45720" rIns="91440" bIns="45720" anchor="ctr" anchorCtr="1"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5FB3B3"/>
                  </a:solidFill>
                </a:rPr>
                <a:t>Ambiguity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Detected</a:t>
              </a:r>
            </a:p>
          </p:txBody>
        </p:sp>
        <p:sp>
          <p:nvSpPr>
            <p:cNvPr id="56" name="Node_Humans"/>
            <p:cNvSpPr/>
            <p:nvPr/>
          </p:nvSpPr>
          <p:spPr>
            <a:xfrm>
              <a:off x="4996000" y="5367500"/>
              <a:ext cx="2200000" cy="1100000"/>
            </a:xfrm>
            <a:prstGeom prst="roundRect">
              <a:avLst>
                <a:gd name="adj" fmla="val 16667"/>
              </a:avLst>
            </a:prstGeom>
            <a:solidFill>
              <a:srgbClr val="00FF88">
                <a:alpha val="15000"/>
              </a:srgbClr>
            </a:solidFill>
            <a:ln w="19050">
              <a:solidFill>
                <a:srgbClr val="00FF88"/>
              </a:solidFill>
            </a:ln>
          </p:spPr>
          <p:txBody>
            <a:bodyPr lIns="91440" tIns="45720" rIns="91440" bIns="45720" anchor="ctr" anchorCtr="1"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00FF88"/>
                  </a:solidFill>
                </a:rPr>
                <a:t>Humans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Respond</a:t>
              </a:r>
            </a:p>
          </p:txBody>
        </p:sp>
        <p:sp>
          <p:nvSpPr>
            <p:cNvPr id="57" name="Node_AI Continues"/>
            <p:cNvSpPr/>
            <p:nvPr/>
          </p:nvSpPr>
          <p:spPr>
            <a:xfrm>
              <a:off x="3296000" y="3667499"/>
              <a:ext cx="2200000" cy="1100000"/>
            </a:xfrm>
            <a:prstGeom prst="roundRect">
              <a:avLst>
                <a:gd name="adj" fmla="val 16667"/>
              </a:avLst>
            </a:prstGeom>
            <a:solidFill>
              <a:srgbClr val="AA88FF">
                <a:alpha val="15000"/>
              </a:srgbClr>
            </a:solidFill>
            <a:ln w="19050">
              <a:solidFill>
                <a:srgbClr val="AA88FF"/>
              </a:solidFill>
            </a:ln>
          </p:spPr>
          <p:txBody>
            <a:bodyPr lIns="91440" tIns="45720" rIns="91440" bIns="45720" anchor="ctr" anchorCtr="1"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AA88FF"/>
                  </a:solidFill>
                </a:rPr>
                <a:t>AI Continues</a:t>
              </a:r>
            </a:p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With Validated Context</a:t>
              </a:r>
            </a:p>
          </p:txBody>
        </p:sp>
        <p:sp>
          <p:nvSpPr>
            <p:cNvPr id="58" name="CenterLabel"/>
            <p:cNvSpPr/>
            <p:nvPr/>
          </p:nvSpPr>
          <p:spPr>
            <a:xfrm>
              <a:off x="5196000" y="3767500"/>
              <a:ext cx="1800000" cy="900000"/>
            </a:xfrm>
            <a:prstGeom prst="ellipse">
              <a:avLst/>
            </a:prstGeom>
            <a:solidFill>
              <a:srgbClr val="E8A030">
                <a:alpha val="20000"/>
              </a:srgbClr>
            </a:solidFill>
            <a:ln w="25400">
              <a:solidFill>
                <a:srgbClr val="E8A030"/>
              </a:solidFill>
            </a:ln>
          </p:spPr>
          <p:txBody>
            <a:bodyPr lIns="0" tIns="0" rIns="0" bIns="0" anchor="ctr" anchorCtr="1"/>
            <a:lstStyle/>
            <a:p>
              <a:pPr algn="ctr">
                <a:buNone/>
              </a:pPr>
              <a:r>
                <a:rPr lang="en-US" sz="1800" b="1" dirty="0">
                  <a:solidFill>
                    <a:srgbClr val="E8A030"/>
                  </a:solidFill>
                </a:rPr>
                <a:t>DOTBOT</a:t>
              </a:r>
            </a:p>
            <a:p>
              <a:pPr algn="ctr">
                <a:buNone/>
              </a:pPr>
              <a:r>
                <a:rPr lang="en-US" sz="1200" dirty="0">
                  <a:solidFill>
                    <a:srgbClr val="888899"/>
                  </a:solidFill>
                </a:rPr>
                <a:t>Orchestrates</a:t>
              </a:r>
            </a:p>
          </p:txBody>
        </p:sp>
        <p:pic>
          <p:nvPicPr>
            <p:cNvPr id="60" name="Graphic 60" descr="AI generates icon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44337" y="2124635"/>
              <a:ext cx="246126" cy="246126"/>
            </a:xfrm>
            <a:prstGeom prst="rect">
              <a:avLst/>
            </a:prstGeom>
          </p:spPr>
        </p:pic>
        <p:pic>
          <p:nvPicPr>
            <p:cNvPr id="61" name="Graphic 61" descr="Humans respond icon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90518" y="5574637"/>
              <a:ext cx="246126" cy="246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7450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40EF-061F-CC9D-0B0D-1BBD286F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DOTBOT Architecture</a:t>
            </a:r>
          </a:p>
        </p:txBody>
      </p:sp>
      <p:sp>
        <p:nvSpPr>
          <p:cNvPr id="100" name="Jira"/>
          <p:cNvSpPr/>
          <p:nvPr/>
        </p:nvSpPr>
        <p:spPr>
          <a:xfrm>
            <a:off x="2646000" y="2028340"/>
            <a:ext cx="3200000" cy="700000"/>
          </a:xfrm>
          <a:prstGeom prst="roundRect">
            <a:avLst>
              <a:gd name="adj" fmla="val 10000"/>
            </a:avLst>
          </a:prstGeom>
          <a:solidFill>
            <a:srgbClr val="E8A030">
              <a:alpha val="15000"/>
            </a:srgbClr>
          </a:solidFill>
          <a:ln w="19050">
            <a:solidFill>
              <a:srgbClr val="E8A030"/>
            </a:solidFill>
          </a:ln>
        </p:spPr>
        <p:txBody>
          <a:bodyPr lIns="137160" tIns="45720" rIns="137160" bIns="45720" anchor="ctr"/>
          <a:lstStyle/>
          <a:p>
            <a:pPr algn="ctr">
              <a:buNone/>
            </a:pPr>
            <a:r>
              <a:rPr lang="en-US" sz="1800" b="1" dirty="0">
                <a:solidFill>
                  <a:srgbClr val="E8A030"/>
                </a:solidFill>
              </a:rPr>
              <a:t>Jira</a:t>
            </a:r>
          </a:p>
          <a:p>
            <a:pPr algn="ctr">
              <a:buNone/>
            </a:pPr>
            <a:r>
              <a:rPr lang="en-US" sz="1200" dirty="0">
                <a:solidFill>
                  <a:srgbClr val="888899"/>
                </a:solidFill>
              </a:rPr>
              <a:t>Tasks · Questions · Approvals</a:t>
            </a:r>
          </a:p>
        </p:txBody>
      </p:sp>
      <p:sp>
        <p:nvSpPr>
          <p:cNvPr id="101" name="Confluence"/>
          <p:cNvSpPr/>
          <p:nvPr/>
        </p:nvSpPr>
        <p:spPr>
          <a:xfrm>
            <a:off x="6346000" y="2028340"/>
            <a:ext cx="3200000" cy="700000"/>
          </a:xfrm>
          <a:prstGeom prst="roundRect">
            <a:avLst>
              <a:gd name="adj" fmla="val 10000"/>
            </a:avLst>
          </a:prstGeom>
          <a:solidFill>
            <a:srgbClr val="E8A030">
              <a:alpha val="15000"/>
            </a:srgbClr>
          </a:solidFill>
          <a:ln w="19050">
            <a:solidFill>
              <a:srgbClr val="E8A030"/>
            </a:solidFill>
          </a:ln>
        </p:spPr>
        <p:txBody>
          <a:bodyPr lIns="137160" tIns="45720" rIns="137160" bIns="45720" anchor="ctr"/>
          <a:lstStyle/>
          <a:p>
            <a:pPr algn="ctr">
              <a:buNone/>
            </a:pPr>
            <a:r>
              <a:rPr lang="en-US" sz="1800" b="1" dirty="0">
                <a:solidFill>
                  <a:srgbClr val="E8A030"/>
                </a:solidFill>
              </a:rPr>
              <a:t>Confluence</a:t>
            </a:r>
          </a:p>
          <a:p>
            <a:pPr algn="ctr">
              <a:buNone/>
            </a:pPr>
            <a:r>
              <a:rPr lang="en-US" sz="1200" dirty="0">
                <a:solidFill>
                  <a:srgbClr val="888899"/>
                </a:solidFill>
              </a:rPr>
              <a:t>Specs · Decisions · Context</a:t>
            </a:r>
          </a:p>
        </p:txBody>
      </p:sp>
      <p:sp>
        <p:nvSpPr>
          <p:cNvPr id="102" name="HumanLabel"/>
          <p:cNvSpPr/>
          <p:nvPr/>
        </p:nvSpPr>
        <p:spPr>
          <a:xfrm>
            <a:off x="2646000" y="1564740"/>
            <a:ext cx="6900000" cy="2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dirty="0">
                <a:solidFill>
                  <a:srgbClr val="E8A030"/>
                </a:solidFill>
              </a:rPr>
              <a:t>HUMAN INTERFACE</a:t>
            </a:r>
          </a:p>
        </p:txBody>
      </p:sp>
      <p:sp>
        <p:nvSpPr>
          <p:cNvPr id="103" name="ArrowDown1"/>
          <p:cNvSpPr/>
          <p:nvPr/>
        </p:nvSpPr>
        <p:spPr>
          <a:xfrm>
            <a:off x="6006000" y="2778340"/>
            <a:ext cx="180000" cy="2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A030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ipeLabel"/>
          <p:cNvSpPr/>
          <p:nvPr/>
        </p:nvSpPr>
        <p:spPr>
          <a:xfrm>
            <a:off x="1396000" y="2802640"/>
            <a:ext cx="9400000" cy="2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dirty="0">
                <a:solidFill>
                  <a:srgbClr val="5FB3B3"/>
                </a:solidFill>
              </a:rPr>
              <a:t>RECIPES (PROFILES)</a:t>
            </a:r>
          </a:p>
        </p:txBody>
      </p:sp>
      <p:sp>
        <p:nvSpPr>
          <p:cNvPr id="105" name="Recipe0"/>
          <p:cNvSpPr/>
          <p:nvPr/>
        </p:nvSpPr>
        <p:spPr>
          <a:xfrm>
            <a:off x="1396000" y="3190540"/>
            <a:ext cx="2200000" cy="800000"/>
          </a:xfrm>
          <a:prstGeom prst="roundRect">
            <a:avLst>
              <a:gd name="adj" fmla="val 12000"/>
            </a:avLst>
          </a:prstGeom>
          <a:solidFill>
            <a:srgbClr val="00FF88">
              <a:alpha val="12000"/>
            </a:srgbClr>
          </a:solidFill>
          <a:ln w="19050">
            <a:solidFill>
              <a:srgbClr val="00FF88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00FF88"/>
                </a:solidFill>
              </a:rPr>
              <a:t>Single Repo</a:t>
            </a:r>
          </a:p>
        </p:txBody>
      </p:sp>
      <p:sp>
        <p:nvSpPr>
          <p:cNvPr id="106" name="Recipe1"/>
          <p:cNvSpPr/>
          <p:nvPr/>
        </p:nvSpPr>
        <p:spPr>
          <a:xfrm>
            <a:off x="3796000" y="3190540"/>
            <a:ext cx="2200000" cy="800000"/>
          </a:xfrm>
          <a:prstGeom prst="roundRect">
            <a:avLst>
              <a:gd name="adj" fmla="val 12000"/>
            </a:avLst>
          </a:prstGeom>
          <a:solidFill>
            <a:srgbClr val="5FB3B3">
              <a:alpha val="12000"/>
            </a:srgbClr>
          </a:solidFill>
          <a:ln w="19050">
            <a:solidFill>
              <a:srgbClr val="5FB3B3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5FB3B3"/>
                </a:solidFill>
              </a:rPr>
              <a:t>Multi-Repo</a:t>
            </a:r>
          </a:p>
        </p:txBody>
      </p:sp>
      <p:sp>
        <p:nvSpPr>
          <p:cNvPr id="107" name="Recipe2"/>
          <p:cNvSpPr/>
          <p:nvPr/>
        </p:nvSpPr>
        <p:spPr>
          <a:xfrm>
            <a:off x="6196000" y="3190540"/>
            <a:ext cx="2200000" cy="800000"/>
          </a:xfrm>
          <a:prstGeom prst="roundRect">
            <a:avLst>
              <a:gd name="adj" fmla="val 12000"/>
            </a:avLst>
          </a:prstGeom>
          <a:solidFill>
            <a:srgbClr val="AA88FF">
              <a:alpha val="12000"/>
            </a:srgbClr>
          </a:solidFill>
          <a:ln w="19050">
            <a:solidFill>
              <a:srgbClr val="AA88FF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AA88FF"/>
                </a:solidFill>
              </a:rPr>
              <a:t>Greenfield</a:t>
            </a:r>
          </a:p>
        </p:txBody>
      </p:sp>
      <p:sp>
        <p:nvSpPr>
          <p:cNvPr id="108" name="Recipe3"/>
          <p:cNvSpPr/>
          <p:nvPr/>
        </p:nvSpPr>
        <p:spPr>
          <a:xfrm>
            <a:off x="8596000" y="3190540"/>
            <a:ext cx="2200000" cy="800000"/>
          </a:xfrm>
          <a:prstGeom prst="roundRect">
            <a:avLst>
              <a:gd name="adj" fmla="val 12000"/>
            </a:avLst>
          </a:prstGeom>
          <a:solidFill>
            <a:srgbClr val="B87820">
              <a:alpha val="12000"/>
            </a:srgbClr>
          </a:solidFill>
          <a:ln w="19050">
            <a:solidFill>
              <a:srgbClr val="B87820"/>
            </a:solidFill>
          </a:ln>
        </p:spPr>
        <p:txBody>
          <a:bodyPr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B87820"/>
                </a:solidFill>
              </a:rPr>
              <a:t>Custom</a:t>
            </a:r>
          </a:p>
        </p:txBody>
      </p:sp>
      <p:sp>
        <p:nvSpPr>
          <p:cNvPr id="109" name="ArrowDown2"/>
          <p:cNvSpPr/>
          <p:nvPr/>
        </p:nvSpPr>
        <p:spPr>
          <a:xfrm>
            <a:off x="6006000" y="3958340"/>
            <a:ext cx="180000" cy="2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FB3B3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poLabel"/>
          <p:cNvSpPr/>
          <p:nvPr/>
        </p:nvSpPr>
        <p:spPr>
          <a:xfrm>
            <a:off x="500000" y="4234027"/>
            <a:ext cx="11192000" cy="2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dirty="0">
                <a:solidFill>
                  <a:srgbClr val="00FF88"/>
                </a:solidFill>
              </a:rPr>
              <a:t>REPOSITORY LAYER</a:t>
            </a:r>
          </a:p>
        </p:txBody>
      </p:sp>
      <p:sp>
        <p:nvSpPr>
          <p:cNvPr id="111" name="RepoContainer"/>
          <p:cNvSpPr/>
          <p:nvPr/>
        </p:nvSpPr>
        <p:spPr>
          <a:xfrm>
            <a:off x="500000" y="4584173"/>
            <a:ext cx="11192000" cy="1983369"/>
          </a:xfrm>
          <a:prstGeom prst="roundRect">
            <a:avLst>
              <a:gd name="adj" fmla="val 5000"/>
            </a:avLst>
          </a:prstGeom>
          <a:solidFill>
            <a:srgbClr val="0A0B0F">
              <a:alpha val="60000"/>
            </a:srgbClr>
          </a:solidFill>
          <a:ln w="12700">
            <a:solidFill>
              <a:srgbClr val="00FF88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OrchRepo"/>
          <p:cNvSpPr/>
          <p:nvPr/>
        </p:nvSpPr>
        <p:spPr>
          <a:xfrm>
            <a:off x="700000" y="4721827"/>
            <a:ext cx="4000000" cy="1300000"/>
          </a:xfrm>
          <a:prstGeom prst="roundRect">
            <a:avLst>
              <a:gd name="adj" fmla="val 8000"/>
            </a:avLst>
          </a:prstGeom>
          <a:solidFill>
            <a:srgbClr val="5FB3B3">
              <a:alpha val="10000"/>
            </a:srgbClr>
          </a:solidFill>
          <a:ln w="19050">
            <a:solidFill>
              <a:srgbClr val="5FB3B3"/>
            </a:solidFill>
          </a:ln>
        </p:spPr>
        <p:txBody>
          <a:bodyPr lIns="137160" tIns="13716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5FB3B3"/>
                </a:solidFill>
              </a:rPr>
              <a:t>orchestration-repo/</a:t>
            </a:r>
          </a:p>
          <a:p>
            <a:pPr marL="228600" indent="0" algn="l">
              <a:buNone/>
            </a:pPr>
            <a:r>
              <a:rPr lang="en-US" sz="1200" dirty="0">
                <a:solidFill>
                  <a:srgbClr val="B87820"/>
                </a:solidFill>
                <a:latin typeface="Consolas"/>
              </a:rPr>
              <a:t>.bot/</a:t>
            </a:r>
            <a:r>
              <a:rPr lang="en-US" sz="1200" dirty="0">
                <a:solidFill>
                  <a:srgbClr val="888899"/>
                </a:solidFill>
              </a:rPr>
              <a:t>  multi-repo recipe</a:t>
            </a:r>
          </a:p>
          <a:p>
            <a:pPr marL="228600" indent="0" algn="l">
              <a:buNone/>
            </a:pPr>
            <a:r>
              <a:rPr lang="en-US" sz="1100" dirty="0">
                <a:solidFill>
                  <a:srgbClr val="888899"/>
                </a:solidFill>
              </a:rPr>
              <a:t>Clones all project repos</a:t>
            </a:r>
          </a:p>
          <a:p>
            <a:pPr marL="228600" indent="0" algn="l">
              <a:buNone/>
            </a:pPr>
            <a:r>
              <a:rPr lang="en-US" sz="1100" dirty="0">
                <a:solidFill>
                  <a:srgbClr val="888899"/>
                </a:solidFill>
              </a:rPr>
              <a:t>Plans tasks across repos</a:t>
            </a:r>
          </a:p>
          <a:p>
            <a:pPr marL="228600" indent="0" algn="l">
              <a:buNone/>
            </a:pPr>
            <a:r>
              <a:rPr lang="en-US" sz="1100" dirty="0">
                <a:solidFill>
                  <a:srgbClr val="888899"/>
                </a:solidFill>
              </a:rPr>
              <a:t>Creates PRs per repo</a:t>
            </a:r>
          </a:p>
        </p:txBody>
      </p:sp>
      <p:sp>
        <p:nvSpPr>
          <p:cNvPr id="113" name="Repo0"/>
          <p:cNvSpPr/>
          <p:nvPr/>
        </p:nvSpPr>
        <p:spPr>
          <a:xfrm>
            <a:off x="9268588" y="4764830"/>
            <a:ext cx="2000000" cy="350000"/>
          </a:xfrm>
          <a:prstGeom prst="roundRect">
            <a:avLst>
              <a:gd name="adj" fmla="val 12000"/>
            </a:avLst>
          </a:prstGeom>
          <a:solidFill>
            <a:srgbClr val="00FF88">
              <a:alpha val="10000"/>
            </a:srgbClr>
          </a:solidFill>
          <a:ln w="15875">
            <a:solidFill>
              <a:srgbClr val="00FF88"/>
            </a:solidFill>
          </a:ln>
        </p:spPr>
        <p:txBody>
          <a:bodyPr lIns="137160" tIns="36576" rIns="91440" bIns="36576" anchor="ctr"/>
          <a:lstStyle/>
          <a:p>
            <a:pPr algn="l">
              <a:buNone/>
            </a:pPr>
            <a:r>
              <a:rPr lang="en-US" sz="1200" b="1" dirty="0">
                <a:solidFill>
                  <a:srgbClr val="00FF88"/>
                </a:solidFill>
                <a:latin typeface="Consolas"/>
              </a:rPr>
              <a:t>frontend-app/</a:t>
            </a:r>
          </a:p>
          <a:p>
            <a:pPr marL="182880" indent="0" algn="l">
              <a:buNone/>
            </a:pPr>
            <a:r>
              <a:rPr lang="en-US" sz="1100" dirty="0">
                <a:solidFill>
                  <a:srgbClr val="B87820"/>
                </a:solidFill>
                <a:latin typeface="Consolas"/>
              </a:rPr>
              <a:t>.bot/</a:t>
            </a:r>
          </a:p>
        </p:txBody>
      </p:sp>
      <p:sp>
        <p:nvSpPr>
          <p:cNvPr id="114" name="Repo1"/>
          <p:cNvSpPr/>
          <p:nvPr/>
        </p:nvSpPr>
        <p:spPr>
          <a:xfrm>
            <a:off x="9268588" y="5214830"/>
            <a:ext cx="2000000" cy="350000"/>
          </a:xfrm>
          <a:prstGeom prst="roundRect">
            <a:avLst>
              <a:gd name="adj" fmla="val 12000"/>
            </a:avLst>
          </a:prstGeom>
          <a:solidFill>
            <a:srgbClr val="00FF88">
              <a:alpha val="10000"/>
            </a:srgbClr>
          </a:solidFill>
          <a:ln w="15875">
            <a:solidFill>
              <a:srgbClr val="00FF88"/>
            </a:solidFill>
          </a:ln>
        </p:spPr>
        <p:txBody>
          <a:bodyPr lIns="137160" tIns="36576" rIns="91440" bIns="36576" anchor="ctr"/>
          <a:lstStyle/>
          <a:p>
            <a:pPr algn="l">
              <a:buNone/>
            </a:pPr>
            <a:r>
              <a:rPr lang="en-US" sz="1200" b="1" dirty="0">
                <a:solidFill>
                  <a:srgbClr val="00FF88"/>
                </a:solidFill>
                <a:latin typeface="Consolas"/>
              </a:rPr>
              <a:t>api-service/</a:t>
            </a:r>
          </a:p>
          <a:p>
            <a:pPr marL="182880" indent="0" algn="l">
              <a:buNone/>
            </a:pPr>
            <a:r>
              <a:rPr lang="en-US" sz="1100" dirty="0">
                <a:solidFill>
                  <a:srgbClr val="B87820"/>
                </a:solidFill>
                <a:latin typeface="Consolas"/>
              </a:rPr>
              <a:t>.bot/</a:t>
            </a:r>
          </a:p>
        </p:txBody>
      </p:sp>
      <p:sp>
        <p:nvSpPr>
          <p:cNvPr id="115" name="Repo2"/>
          <p:cNvSpPr/>
          <p:nvPr/>
        </p:nvSpPr>
        <p:spPr>
          <a:xfrm>
            <a:off x="9268588" y="5664830"/>
            <a:ext cx="2000000" cy="350000"/>
          </a:xfrm>
          <a:prstGeom prst="roundRect">
            <a:avLst>
              <a:gd name="adj" fmla="val 12000"/>
            </a:avLst>
          </a:prstGeom>
          <a:solidFill>
            <a:srgbClr val="00FF88">
              <a:alpha val="10000"/>
            </a:srgbClr>
          </a:solidFill>
          <a:ln w="15875">
            <a:solidFill>
              <a:srgbClr val="00FF88"/>
            </a:solidFill>
          </a:ln>
        </p:spPr>
        <p:txBody>
          <a:bodyPr lIns="137160" tIns="36576" rIns="91440" bIns="36576" anchor="ctr"/>
          <a:lstStyle/>
          <a:p>
            <a:pPr algn="l">
              <a:buNone/>
            </a:pPr>
            <a:r>
              <a:rPr lang="en-US" sz="1200" b="1" dirty="0">
                <a:solidFill>
                  <a:srgbClr val="00FF88"/>
                </a:solidFill>
                <a:latin typeface="Consolas"/>
              </a:rPr>
              <a:t>shared-lib/</a:t>
            </a:r>
          </a:p>
          <a:p>
            <a:pPr marL="182880" indent="0" algn="l">
              <a:buNone/>
            </a:pPr>
            <a:r>
              <a:rPr lang="en-US" sz="1100" dirty="0">
                <a:solidFill>
                  <a:srgbClr val="B87820"/>
                </a:solidFill>
                <a:latin typeface="Consolas"/>
              </a:rPr>
              <a:t>.bot/</a:t>
            </a:r>
          </a:p>
        </p:txBody>
      </p:sp>
      <p:sp>
        <p:nvSpPr>
          <p:cNvPr id="116" name="HArrow0"/>
          <p:cNvSpPr/>
          <p:nvPr/>
        </p:nvSpPr>
        <p:spPr>
          <a:xfrm>
            <a:off x="4749999" y="4871827"/>
            <a:ext cx="4281045" cy="207532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5FB3B3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HArrow1"/>
          <p:cNvSpPr/>
          <p:nvPr/>
        </p:nvSpPr>
        <p:spPr>
          <a:xfrm>
            <a:off x="4749999" y="5321827"/>
            <a:ext cx="4281045" cy="207532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5FB3B3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HArrow2"/>
          <p:cNvSpPr/>
          <p:nvPr/>
        </p:nvSpPr>
        <p:spPr>
          <a:xfrm>
            <a:off x="4749999" y="5771827"/>
            <a:ext cx="4281045" cy="207532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5FB3B3">
              <a:alpha val="3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ArrowLabel"/>
          <p:cNvSpPr/>
          <p:nvPr/>
        </p:nvSpPr>
        <p:spPr>
          <a:xfrm>
            <a:off x="4749999" y="4666428"/>
            <a:ext cx="4281045" cy="27670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900" dirty="0">
                <a:solidFill>
                  <a:srgbClr val="5FB3B3"/>
                </a:solidFill>
              </a:rPr>
              <a:t>clones + PRs</a:t>
            </a:r>
          </a:p>
        </p:txBody>
      </p:sp>
      <p:sp>
        <p:nvSpPr>
          <p:cNvPr id="120" name="Annotation"/>
          <p:cNvSpPr/>
          <p:nvPr/>
        </p:nvSpPr>
        <p:spPr>
          <a:xfrm>
            <a:off x="500000" y="6185326"/>
            <a:ext cx="11192000" cy="2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Each repo has its own .bot/</a:t>
            </a:r>
          </a:p>
        </p:txBody>
      </p:sp>
    </p:spTree>
    <p:extLst>
      <p:ext uri="{BB962C8B-B14F-4D97-AF65-F5344CB8AC3E}">
        <p14:creationId xmlns:p14="http://schemas.microsoft.com/office/powerpoint/2010/main" val="395119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CB03-374C-B642-D71F-EAE27482D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100% Visibility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8B975D-731B-E986-8757-F98E740F3401}"/>
              </a:ext>
            </a:extLst>
          </p:cNvPr>
          <p:cNvGrpSpPr/>
          <p:nvPr/>
        </p:nvGrpSpPr>
        <p:grpSpPr>
          <a:xfrm>
            <a:off x="1096000" y="2764218"/>
            <a:ext cx="10000000" cy="2657200"/>
            <a:chOff x="1096000" y="1700000"/>
            <a:chExt cx="10000000" cy="2657200"/>
          </a:xfrm>
        </p:grpSpPr>
        <p:sp>
          <p:nvSpPr>
            <p:cNvPr id="50" name="PillarCirc0"/>
            <p:cNvSpPr/>
            <p:nvPr/>
          </p:nvSpPr>
          <p:spPr>
            <a:xfrm>
              <a:off x="1671000" y="1700000"/>
              <a:ext cx="650000" cy="650000"/>
            </a:xfrm>
            <a:prstGeom prst="ellipse">
              <a:avLst/>
            </a:prstGeom>
            <a:solidFill>
              <a:srgbClr val="E8A030">
                <a:alpha val="20000"/>
              </a:srgbClr>
            </a:solidFill>
            <a:ln w="19050">
              <a:solidFill>
                <a:srgbClr val="E8A030"/>
              </a:solidFill>
            </a:ln>
          </p:spPr>
          <p:txBody>
            <a:bodyPr lIns="0" tIns="0" rIns="0" bIns="0" anchor="ctr" anchorCtr="1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E8A030"/>
                  </a:solidFill>
                </a:rPr>
                <a:t>AI</a:t>
              </a:r>
            </a:p>
          </p:txBody>
        </p:sp>
        <p:sp>
          <p:nvSpPr>
            <p:cNvPr id="51" name="PillarTitle0"/>
            <p:cNvSpPr/>
            <p:nvPr/>
          </p:nvSpPr>
          <p:spPr>
            <a:xfrm>
              <a:off x="1096000" y="2550000"/>
              <a:ext cx="1800000" cy="6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B87820"/>
                  </a:solidFill>
                </a:rPr>
                <a:t>What AI Did</a:t>
              </a:r>
            </a:p>
          </p:txBody>
        </p:sp>
        <p:sp>
          <p:nvSpPr>
            <p:cNvPr id="52" name="PillarDesc0"/>
            <p:cNvSpPr/>
            <p:nvPr/>
          </p:nvSpPr>
          <p:spPr>
            <a:xfrm>
              <a:off x="1096000" y="3200000"/>
              <a:ext cx="1800000" cy="5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Every generation
tracked</a:t>
              </a:r>
            </a:p>
          </p:txBody>
        </p:sp>
        <p:sp>
          <p:nvSpPr>
            <p:cNvPr id="53" name="PillarCirc1"/>
            <p:cNvSpPr/>
            <p:nvPr/>
          </p:nvSpPr>
          <p:spPr>
            <a:xfrm>
              <a:off x="3721000" y="1700000"/>
              <a:ext cx="650000" cy="650000"/>
            </a:xfrm>
            <a:prstGeom prst="ellipse">
              <a:avLst/>
            </a:prstGeom>
            <a:solidFill>
              <a:srgbClr val="00FF88">
                <a:alpha val="20000"/>
              </a:srgbClr>
            </a:solidFill>
            <a:ln w="19050">
              <a:solidFill>
                <a:srgbClr val="00FF88"/>
              </a:solidFill>
            </a:ln>
          </p:spPr>
          <p:txBody>
            <a:bodyPr lIns="0" tIns="0" rIns="0" bIns="0" anchor="ctr" anchorCtr="1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0FF88"/>
                  </a:solidFill>
                </a:rPr>
                <a:t>H</a:t>
              </a:r>
            </a:p>
          </p:txBody>
        </p:sp>
        <p:sp>
          <p:nvSpPr>
            <p:cNvPr id="54" name="PillarTitle1"/>
            <p:cNvSpPr/>
            <p:nvPr/>
          </p:nvSpPr>
          <p:spPr>
            <a:xfrm>
              <a:off x="3146000" y="2550000"/>
              <a:ext cx="1800000" cy="6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B87820"/>
                  </a:solidFill>
                </a:rPr>
                <a:t>What Humans
Decided</a:t>
              </a:r>
            </a:p>
          </p:txBody>
        </p:sp>
        <p:sp>
          <p:nvSpPr>
            <p:cNvPr id="55" name="PillarDesc1"/>
            <p:cNvSpPr/>
            <p:nvPr/>
          </p:nvSpPr>
          <p:spPr>
            <a:xfrm>
              <a:off x="3146000" y="3200000"/>
              <a:ext cx="1800000" cy="5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Every decision
recorded</a:t>
              </a:r>
            </a:p>
          </p:txBody>
        </p:sp>
        <p:sp>
          <p:nvSpPr>
            <p:cNvPr id="56" name="PillarCirc2"/>
            <p:cNvSpPr/>
            <p:nvPr/>
          </p:nvSpPr>
          <p:spPr>
            <a:xfrm>
              <a:off x="5771000" y="1700000"/>
              <a:ext cx="650000" cy="650000"/>
            </a:xfrm>
            <a:prstGeom prst="ellipse">
              <a:avLst/>
            </a:prstGeom>
            <a:solidFill>
              <a:srgbClr val="AA88FF">
                <a:alpha val="20000"/>
              </a:srgbClr>
            </a:solidFill>
            <a:ln w="19050">
              <a:solidFill>
                <a:srgbClr val="AA88FF"/>
              </a:solidFill>
            </a:ln>
          </p:spPr>
          <p:txBody>
            <a:bodyPr lIns="0" tIns="0" rIns="0" bIns="0" anchor="ctr" anchorCtr="1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AA88FF"/>
                  </a:solidFill>
                </a:rPr>
                <a:t>A</a:t>
              </a:r>
            </a:p>
          </p:txBody>
        </p:sp>
        <p:sp>
          <p:nvSpPr>
            <p:cNvPr id="57" name="PillarTitle2"/>
            <p:cNvSpPr/>
            <p:nvPr/>
          </p:nvSpPr>
          <p:spPr>
            <a:xfrm>
              <a:off x="5196000" y="2550000"/>
              <a:ext cx="1800000" cy="6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B87820"/>
                  </a:solidFill>
                </a:rPr>
                <a:t>Who Approved
What</a:t>
              </a:r>
            </a:p>
          </p:txBody>
        </p:sp>
        <p:sp>
          <p:nvSpPr>
            <p:cNvPr id="58" name="PillarDesc2"/>
            <p:cNvSpPr/>
            <p:nvPr/>
          </p:nvSpPr>
          <p:spPr>
            <a:xfrm>
              <a:off x="5196000" y="3200000"/>
              <a:ext cx="1800000" cy="5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Every sign-off
linked</a:t>
              </a:r>
            </a:p>
          </p:txBody>
        </p:sp>
        <p:sp>
          <p:nvSpPr>
            <p:cNvPr id="59" name="PillarCirc3"/>
            <p:cNvSpPr/>
            <p:nvPr/>
          </p:nvSpPr>
          <p:spPr>
            <a:xfrm>
              <a:off x="7821000" y="1700000"/>
              <a:ext cx="650000" cy="650000"/>
            </a:xfrm>
            <a:prstGeom prst="ellipse">
              <a:avLst/>
            </a:prstGeom>
            <a:solidFill>
              <a:srgbClr val="5FB3B3">
                <a:alpha val="20000"/>
              </a:srgbClr>
            </a:solidFill>
            <a:ln w="19050">
              <a:solidFill>
                <a:srgbClr val="5FB3B3"/>
              </a:solidFill>
            </a:ln>
          </p:spPr>
          <p:txBody>
            <a:bodyPr lIns="0" tIns="0" rIns="0" bIns="0" anchor="ctr" anchorCtr="1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5FB3B3"/>
                  </a:solidFill>
                </a:rPr>
                <a:t>T</a:t>
              </a:r>
            </a:p>
          </p:txBody>
        </p:sp>
        <p:sp>
          <p:nvSpPr>
            <p:cNvPr id="60" name="PillarTitle3"/>
            <p:cNvSpPr/>
            <p:nvPr/>
          </p:nvSpPr>
          <p:spPr>
            <a:xfrm>
              <a:off x="7246000" y="2550000"/>
              <a:ext cx="1800000" cy="6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B87820"/>
                  </a:solidFill>
                </a:rPr>
                <a:t>When It
Happened</a:t>
              </a:r>
            </a:p>
          </p:txBody>
        </p:sp>
        <p:sp>
          <p:nvSpPr>
            <p:cNvPr id="61" name="PillarDesc3"/>
            <p:cNvSpPr/>
            <p:nvPr/>
          </p:nvSpPr>
          <p:spPr>
            <a:xfrm>
              <a:off x="7246000" y="3200000"/>
              <a:ext cx="1800000" cy="5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Full timeline
of activity</a:t>
              </a:r>
            </a:p>
          </p:txBody>
        </p:sp>
        <p:sp>
          <p:nvSpPr>
            <p:cNvPr id="62" name="PillarCirc4"/>
            <p:cNvSpPr/>
            <p:nvPr/>
          </p:nvSpPr>
          <p:spPr>
            <a:xfrm>
              <a:off x="9871000" y="1700000"/>
              <a:ext cx="650000" cy="650000"/>
            </a:xfrm>
            <a:prstGeom prst="ellipse">
              <a:avLst/>
            </a:prstGeom>
            <a:solidFill>
              <a:srgbClr val="B87820">
                <a:alpha val="20000"/>
              </a:srgbClr>
            </a:solidFill>
            <a:ln w="19050">
              <a:solidFill>
                <a:srgbClr val="B87820"/>
              </a:solidFill>
            </a:ln>
          </p:spPr>
          <p:txBody>
            <a:bodyPr lIns="0" tIns="0" rIns="0" bIns="0" anchor="ctr" anchorCtr="1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B87820"/>
                  </a:solidFill>
                </a:rPr>
                <a:t>W</a:t>
              </a:r>
            </a:p>
          </p:txBody>
        </p:sp>
        <p:sp>
          <p:nvSpPr>
            <p:cNvPr id="63" name="PillarTitle4"/>
            <p:cNvSpPr/>
            <p:nvPr/>
          </p:nvSpPr>
          <p:spPr>
            <a:xfrm>
              <a:off x="9296000" y="2550000"/>
              <a:ext cx="1800000" cy="6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B87820"/>
                  </a:solidFill>
                </a:rPr>
                <a:t>And Why</a:t>
              </a:r>
            </a:p>
          </p:txBody>
        </p:sp>
        <p:sp>
          <p:nvSpPr>
            <p:cNvPr id="64" name="PillarDesc4"/>
            <p:cNvSpPr/>
            <p:nvPr/>
          </p:nvSpPr>
          <p:spPr>
            <a:xfrm>
              <a:off x="9296000" y="3200000"/>
              <a:ext cx="1800000" cy="50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36000" tIns="0" rIns="36000" bIns="0" anchor="t"/>
            <a:lstStyle/>
            <a:p>
              <a:pPr algn="ctr">
                <a:buNone/>
              </a:pPr>
              <a:r>
                <a:rPr lang="en-US" sz="1400" dirty="0">
                  <a:solidFill>
                    <a:srgbClr val="888899"/>
                  </a:solidFill>
                </a:rPr>
                <a:t>Context and
rationale</a:t>
              </a:r>
            </a:p>
          </p:txBody>
        </p:sp>
        <p:sp>
          <p:nvSpPr>
            <p:cNvPr id="65" name="VisTag"/>
            <p:cNvSpPr/>
            <p:nvPr/>
          </p:nvSpPr>
          <p:spPr>
            <a:xfrm>
              <a:off x="1524000" y="3900000"/>
              <a:ext cx="9144000" cy="4572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B87820"/>
                  </a:solidFill>
                </a:rPr>
                <a:t>100% visibility — end to end</a:t>
              </a:r>
            </a:p>
          </p:txBody>
        </p:sp>
        <p:pic>
          <p:nvPicPr>
            <p:cNvPr id="66" name="Graphic 66" descr="AI activity icon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05499" y="1834499"/>
              <a:ext cx="381000" cy="381000"/>
            </a:xfrm>
            <a:prstGeom prst="rect">
              <a:avLst/>
            </a:prstGeom>
          </p:spPr>
        </p:pic>
        <p:pic>
          <p:nvPicPr>
            <p:cNvPr id="67" name="Graphic 67" descr="Human decisions icon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55500" y="1834499"/>
              <a:ext cx="381000" cy="381000"/>
            </a:xfrm>
            <a:prstGeom prst="rect">
              <a:avLst/>
            </a:prstGeom>
          </p:spPr>
        </p:pic>
        <p:pic>
          <p:nvPicPr>
            <p:cNvPr id="68" name="Graphic 68" descr="Approval icon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05500" y="1834499"/>
              <a:ext cx="381000" cy="381000"/>
            </a:xfrm>
            <a:prstGeom prst="rect">
              <a:avLst/>
            </a:prstGeom>
          </p:spPr>
        </p:pic>
        <p:pic>
          <p:nvPicPr>
            <p:cNvPr id="69" name="Graphic 69" descr="Timeline icon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55499" y="1834499"/>
              <a:ext cx="381000" cy="381000"/>
            </a:xfrm>
            <a:prstGeom prst="rect">
              <a:avLst/>
            </a:prstGeom>
          </p:spPr>
        </p:pic>
        <p:pic>
          <p:nvPicPr>
            <p:cNvPr id="70" name="Graphic 70" descr="Why/rationale icon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05500" y="1834499"/>
              <a:ext cx="381000" cy="38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057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ECA5-EA5B-CD4F-CBCA-3F80E56B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B40DF-61C2-D2BB-59C0-4F83EF14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1600" spc="150" dirty="0">
              <a:solidFill>
                <a:srgbClr val="888899"/>
              </a:solidFill>
              <a:latin typeface="Consolas"/>
            </a:endParaRPr>
          </a:p>
          <a:p>
            <a:pPr>
              <a:buNone/>
            </a:pPr>
            <a:r>
              <a:rPr lang="en-US" sz="1600" spc="150" dirty="0">
                <a:solidFill>
                  <a:srgbClr val="888899"/>
                </a:solidFill>
                <a:latin typeface="Consolas"/>
              </a:rPr>
              <a:t>// WITHOUT ORCHESTRATION</a:t>
            </a:r>
          </a:p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AI increases speed but </a:t>
            </a:r>
            <a:r>
              <a:rPr lang="en-US" sz="1800" b="1" dirty="0">
                <a:solidFill>
                  <a:srgbClr val="D16969"/>
                </a:solidFill>
                <a:latin typeface="Consolas"/>
              </a:rPr>
              <a:t>reduces explainability</a:t>
            </a:r>
            <a:r>
              <a:rPr lang="en-US" sz="1800" dirty="0">
                <a:solidFill>
                  <a:srgbClr val="B87820"/>
                </a:solidFill>
                <a:latin typeface="Consolas"/>
              </a:rPr>
              <a:t>.</a:t>
            </a:r>
          </a:p>
          <a:p>
            <a:pPr>
              <a:buNone/>
            </a:pPr>
            <a:endParaRPr lang="en-US" sz="1800" dirty="0">
              <a:solidFill>
                <a:srgbClr val="B87820"/>
              </a:solidFill>
              <a:latin typeface="Consolas"/>
            </a:endParaRPr>
          </a:p>
          <a:p>
            <a:pPr>
              <a:buNone/>
            </a:pPr>
            <a:r>
              <a:rPr lang="en-US" sz="1600" spc="150" dirty="0">
                <a:solidFill>
                  <a:srgbClr val="888899"/>
                </a:solidFill>
                <a:latin typeface="Consolas"/>
              </a:rPr>
              <a:t>// WITH DOTBOT</a:t>
            </a:r>
          </a:p>
          <a:p>
            <a:pPr>
              <a:buNone/>
            </a:pPr>
            <a:r>
              <a:rPr lang="en-US" sz="1800" dirty="0">
                <a:solidFill>
                  <a:srgbClr val="B87820"/>
                </a:solidFill>
                <a:latin typeface="Consolas"/>
              </a:rPr>
              <a:t>AI increases speed </a:t>
            </a:r>
            <a:r>
              <a:rPr lang="en-US" sz="1800" b="1" dirty="0">
                <a:solidFill>
                  <a:srgbClr val="00FF88"/>
                </a:solidFill>
                <a:latin typeface="Consolas"/>
              </a:rPr>
              <a:t>and trust</a:t>
            </a:r>
            <a:r>
              <a:rPr lang="en-US" sz="1800" dirty="0">
                <a:solidFill>
                  <a:srgbClr val="B87820"/>
                </a:solidFill>
                <a:latin typeface="Consolas"/>
              </a:rPr>
              <a:t>.</a:t>
            </a:r>
          </a:p>
          <a:p>
            <a:pPr>
              <a:buNone/>
            </a:pPr>
            <a:r>
              <a:rPr lang="en-US" sz="1800" b="1" dirty="0">
                <a:solidFill>
                  <a:srgbClr val="E8A030"/>
                </a:solidFill>
                <a:latin typeface="Consolas"/>
              </a:rPr>
              <a:t>&gt; Engineers:</a:t>
            </a:r>
            <a:r>
              <a:rPr lang="en-US" sz="1800" dirty="0">
                <a:solidFill>
                  <a:srgbClr val="B87820"/>
                </a:solidFill>
                <a:latin typeface="Consolas"/>
              </a:rPr>
              <a:t> fewer rework loops, clearer decisions.</a:t>
            </a:r>
          </a:p>
          <a:p>
            <a:pPr>
              <a:buNone/>
            </a:pPr>
            <a:r>
              <a:rPr lang="en-US" sz="1800" b="1" dirty="0">
                <a:solidFill>
                  <a:srgbClr val="E8A030"/>
                </a:solidFill>
                <a:latin typeface="Consolas"/>
              </a:rPr>
              <a:t>&gt; Leaders:</a:t>
            </a:r>
            <a:r>
              <a:rPr lang="en-US" sz="1800" dirty="0">
                <a:solidFill>
                  <a:srgbClr val="B87820"/>
                </a:solidFill>
                <a:latin typeface="Consolas"/>
              </a:rPr>
              <a:t> defensible delivery.</a:t>
            </a:r>
          </a:p>
          <a:p>
            <a:pPr>
              <a:buNone/>
            </a:pPr>
            <a:r>
              <a:rPr lang="en-US" sz="1800" b="1" dirty="0">
                <a:solidFill>
                  <a:srgbClr val="E8A030"/>
                </a:solidFill>
                <a:latin typeface="Consolas"/>
              </a:rPr>
              <a:t>&gt; Risk &amp; Compliance:</a:t>
            </a:r>
            <a:r>
              <a:rPr lang="en-US" sz="1800" dirty="0">
                <a:solidFill>
                  <a:srgbClr val="B87820"/>
                </a:solidFill>
                <a:latin typeface="Consolas"/>
              </a:rPr>
              <a:t> auditability by design.</a:t>
            </a:r>
          </a:p>
          <a:p>
            <a:pPr>
              <a:buNone/>
            </a:pPr>
            <a:r>
              <a:rPr lang="en-US" sz="1800" b="1" dirty="0">
                <a:solidFill>
                  <a:srgbClr val="00FF88"/>
                </a:solidFill>
                <a:latin typeface="Consolas"/>
              </a:rPr>
              <a:t>We didn't automate development. We automated clarity.</a:t>
            </a:r>
          </a:p>
        </p:txBody>
      </p:sp>
    </p:spTree>
    <p:extLst>
      <p:ext uri="{BB962C8B-B14F-4D97-AF65-F5344CB8AC3E}">
        <p14:creationId xmlns:p14="http://schemas.microsoft.com/office/powerpoint/2010/main" val="72011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B127-13D4-25CD-FDC5-90536AFA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/>
              <a:t>DOTBOT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423DF-8FFC-2846-C508-2F8AAF267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solidFill>
                  <a:srgbClr val="B87820"/>
                </a:solidFill>
                <a:latin typeface="Consolas"/>
              </a:rPr>
              <a:t>Amplify your people. Scale with control.</a:t>
            </a:r>
          </a:p>
          <a:p>
            <a:pPr>
              <a:buNone/>
            </a:pPr>
            <a:r>
              <a:rPr lang="en-US" sz="2200" dirty="0">
                <a:solidFill>
                  <a:srgbClr val="00FF88"/>
                </a:solidFill>
                <a:latin typeface="Consolas"/>
              </a:rPr>
              <a:t>&gt; enterprise AI development — done right._</a:t>
            </a:r>
          </a:p>
        </p:txBody>
      </p:sp>
    </p:spTree>
    <p:extLst>
      <p:ext uri="{BB962C8B-B14F-4D97-AF65-F5344CB8AC3E}">
        <p14:creationId xmlns:p14="http://schemas.microsoft.com/office/powerpoint/2010/main" val="266502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OTBOT Mission Control">
      <a:dk1>
        <a:srgbClr val="E8A030"/>
      </a:dk1>
      <a:lt1>
        <a:srgbClr val="050508"/>
      </a:lt1>
      <a:dk2>
        <a:srgbClr val="B87820"/>
      </a:dk2>
      <a:lt2>
        <a:srgbClr val="0A0B0F"/>
      </a:lt2>
      <a:accent1>
        <a:srgbClr val="E8A030"/>
      </a:accent1>
      <a:accent2>
        <a:srgbClr val="00FF88"/>
      </a:accent2>
      <a:accent3>
        <a:srgbClr val="5FB3B3"/>
      </a:accent3>
      <a:accent4>
        <a:srgbClr val="AA88FF"/>
      </a:accent4>
      <a:accent5>
        <a:srgbClr val="D16969"/>
      </a:accent5>
      <a:accent6>
        <a:srgbClr val="888899"/>
      </a:accent6>
      <a:hlink>
        <a:srgbClr val="467886"/>
      </a:hlink>
      <a:folHlink>
        <a:srgbClr val="96607D"/>
      </a:folHlink>
    </a:clrScheme>
    <a:fontScheme name="Mission Control">
      <a:majorFont>
        <a:latin typeface="Consola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D4CC47-A6D5-4B93-8C58-8D789F44ADAE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6145</TotalTime>
  <Words>1238</Words>
  <Application>Microsoft Office PowerPoint</Application>
  <PresentationFormat>Widescreen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Consolas</vt:lpstr>
      <vt:lpstr>Office Theme</vt:lpstr>
      <vt:lpstr>DOTBOT</vt:lpstr>
      <vt:lpstr>The Problem</vt:lpstr>
      <vt:lpstr>The Key Insight</vt:lpstr>
      <vt:lpstr>What DOTBOT Is</vt:lpstr>
      <vt:lpstr>What DOTBOT Actually Does</vt:lpstr>
      <vt:lpstr>Humans Stay in Control</vt:lpstr>
      <vt:lpstr>The Continuous Loop</vt:lpstr>
      <vt:lpstr>DOTBOT Architecture</vt:lpstr>
      <vt:lpstr>100% Visibility</vt:lpstr>
      <vt:lpstr>Why This Matters</vt:lpstr>
      <vt:lpstr>DOTBOT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Sharpe</dc:creator>
  <cp:lastModifiedBy>Andre Sharpe</cp:lastModifiedBy>
  <cp:revision>10</cp:revision>
  <dcterms:created xsi:type="dcterms:W3CDTF">2026-03-02T15:56:41Z</dcterms:created>
  <dcterms:modified xsi:type="dcterms:W3CDTF">2026-03-11T06:35:56Z</dcterms:modified>
</cp:coreProperties>
</file>